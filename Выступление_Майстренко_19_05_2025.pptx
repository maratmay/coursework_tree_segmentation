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7"/>
  </p:notesMasterIdLst>
  <p:sldIdLst>
    <p:sldId id="256" r:id="rId2"/>
    <p:sldId id="276" r:id="rId3"/>
    <p:sldId id="260" r:id="rId4"/>
    <p:sldId id="262" r:id="rId5"/>
    <p:sldId id="273" r:id="rId6"/>
    <p:sldId id="275" r:id="rId7"/>
    <p:sldId id="266" r:id="rId8"/>
    <p:sldId id="267" r:id="rId9"/>
    <p:sldId id="277" r:id="rId10"/>
    <p:sldId id="278" r:id="rId11"/>
    <p:sldId id="268" r:id="rId12"/>
    <p:sldId id="279" r:id="rId13"/>
    <p:sldId id="271" r:id="rId14"/>
    <p:sldId id="272" r:id="rId15"/>
    <p:sldId id="274" r:id="rId1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Crimson Text" panose="020B0604020202020204" charset="0"/>
      <p:regular r:id="rId23"/>
      <p:bold r:id="rId24"/>
      <p:italic r:id="rId25"/>
      <p:boldItalic r:id="rId26"/>
    </p:embeddedFont>
    <p:embeddedFont>
      <p:font typeface="Montserrat" panose="00000500000000000000" pitchFamily="2" charset="-52"/>
      <p:regular r:id="rId27"/>
      <p:bold r:id="rId28"/>
      <p:italic r:id="rId29"/>
      <p:boldItalic r:id="rId30"/>
    </p:embeddedFont>
    <p:embeddedFont>
      <p:font typeface="Vidaloka" panose="020B0604020202020204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ат Майстренко" initials="ММ" lastIdx="1" clrIdx="0">
    <p:extLst>
      <p:ext uri="{19B8F6BF-5375-455C-9EA6-DF929625EA0E}">
        <p15:presenceInfo xmlns:p15="http://schemas.microsoft.com/office/powerpoint/2012/main" userId="Марат Майстренко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C0654D-B984-4BB0-A0E2-CA0E37993183}">
  <a:tblStyle styleId="{4EC0654D-B984-4BB0-A0E2-CA0E379931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059365-B49A-4704-BECC-F87F8B46D791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46AEEF2-AEC0-487C-9BB3-D97EAC34FCA4}">
      <dgm:prSet phldrT="[Текст]"/>
      <dgm:spPr/>
      <dgm:t>
        <a:bodyPr/>
        <a:lstStyle/>
        <a:p>
          <a:r>
            <a:rPr lang="ru-RU" dirty="0"/>
            <a:t>Обучение модели</a:t>
          </a:r>
        </a:p>
      </dgm:t>
    </dgm:pt>
    <dgm:pt modelId="{DF37B987-48C2-413B-A538-C1A1CE1DCC05}" type="parTrans" cxnId="{253DD390-D746-4B5A-ADAD-89B8B2BA119D}">
      <dgm:prSet/>
      <dgm:spPr/>
      <dgm:t>
        <a:bodyPr/>
        <a:lstStyle/>
        <a:p>
          <a:endParaRPr lang="ru-RU"/>
        </a:p>
      </dgm:t>
    </dgm:pt>
    <dgm:pt modelId="{C749205D-888A-4345-883A-BC38EDBCBF16}" type="sibTrans" cxnId="{253DD390-D746-4B5A-ADAD-89B8B2BA119D}">
      <dgm:prSet/>
      <dgm:spPr/>
      <dgm:t>
        <a:bodyPr/>
        <a:lstStyle/>
        <a:p>
          <a:endParaRPr lang="ru-RU"/>
        </a:p>
      </dgm:t>
    </dgm:pt>
    <dgm:pt modelId="{62FF5C4A-DC48-47C9-95C3-AEE063363692}">
      <dgm:prSet phldrT="[Текст]"/>
      <dgm:spPr/>
      <dgm:t>
        <a:bodyPr/>
        <a:lstStyle/>
        <a:p>
          <a:r>
            <a:rPr lang="ru-RU" dirty="0"/>
            <a:t>Загрузка файла</a:t>
          </a:r>
        </a:p>
      </dgm:t>
    </dgm:pt>
    <dgm:pt modelId="{76C4323B-A85D-417C-810A-16A1EA141B85}" type="parTrans" cxnId="{D1FD7125-05B7-48FB-B1CA-A101BA2AEAAA}">
      <dgm:prSet/>
      <dgm:spPr/>
      <dgm:t>
        <a:bodyPr/>
        <a:lstStyle/>
        <a:p>
          <a:endParaRPr lang="ru-RU"/>
        </a:p>
      </dgm:t>
    </dgm:pt>
    <dgm:pt modelId="{5ED31CB2-0A1A-4357-9828-CB1D51FC2EF6}" type="sibTrans" cxnId="{D1FD7125-05B7-48FB-B1CA-A101BA2AEAAA}">
      <dgm:prSet/>
      <dgm:spPr/>
      <dgm:t>
        <a:bodyPr/>
        <a:lstStyle/>
        <a:p>
          <a:endParaRPr lang="ru-RU"/>
        </a:p>
      </dgm:t>
    </dgm:pt>
    <dgm:pt modelId="{76CD6202-F072-42CE-A35A-F63050553025}">
      <dgm:prSet phldrT="[Текст]"/>
      <dgm:spPr/>
      <dgm:t>
        <a:bodyPr/>
        <a:lstStyle/>
        <a:p>
          <a:r>
            <a:rPr lang="ru-RU" dirty="0"/>
            <a:t>Вычисление дополнительных признаков</a:t>
          </a:r>
        </a:p>
      </dgm:t>
    </dgm:pt>
    <dgm:pt modelId="{D4FF3FA3-E693-4F11-9A75-5E109B4758F9}" type="parTrans" cxnId="{0CFA05BB-E4EC-44A3-8871-1AF9FCA9C99E}">
      <dgm:prSet/>
      <dgm:spPr/>
      <dgm:t>
        <a:bodyPr/>
        <a:lstStyle/>
        <a:p>
          <a:endParaRPr lang="ru-RU"/>
        </a:p>
      </dgm:t>
    </dgm:pt>
    <dgm:pt modelId="{9520DD92-5877-48EE-BAA7-B5A85945E254}" type="sibTrans" cxnId="{0CFA05BB-E4EC-44A3-8871-1AF9FCA9C99E}">
      <dgm:prSet/>
      <dgm:spPr/>
      <dgm:t>
        <a:bodyPr/>
        <a:lstStyle/>
        <a:p>
          <a:endParaRPr lang="ru-RU"/>
        </a:p>
      </dgm:t>
    </dgm:pt>
    <dgm:pt modelId="{702544B7-35ED-4B64-BF9E-8392252063DF}">
      <dgm:prSet/>
      <dgm:spPr/>
      <dgm:t>
        <a:bodyPr/>
        <a:lstStyle/>
        <a:p>
          <a:r>
            <a:rPr lang="ru-RU" dirty="0" err="1"/>
            <a:t>Нормализаци</a:t>
          </a:r>
          <a:r>
            <a:rPr lang="ru-RU" baseline="0" dirty="0"/>
            <a:t> признаков (</a:t>
          </a:r>
          <a:r>
            <a:rPr lang="en-US" baseline="0" dirty="0" err="1"/>
            <a:t>StandartScaler</a:t>
          </a:r>
          <a:r>
            <a:rPr lang="en-US" baseline="0" dirty="0"/>
            <a:t>)</a:t>
          </a:r>
          <a:endParaRPr lang="ru-RU" dirty="0"/>
        </a:p>
      </dgm:t>
    </dgm:pt>
    <dgm:pt modelId="{A8CB79AB-D6E7-469B-ACD7-C27D5C39CB3E}" type="parTrans" cxnId="{A4043A78-21D3-4FEB-9D34-D84B3D82972E}">
      <dgm:prSet/>
      <dgm:spPr/>
      <dgm:t>
        <a:bodyPr/>
        <a:lstStyle/>
        <a:p>
          <a:endParaRPr lang="ru-RU"/>
        </a:p>
      </dgm:t>
    </dgm:pt>
    <dgm:pt modelId="{3E8410B2-C586-4564-8F82-022C23DF5244}" type="sibTrans" cxnId="{A4043A78-21D3-4FEB-9D34-D84B3D82972E}">
      <dgm:prSet/>
      <dgm:spPr/>
      <dgm:t>
        <a:bodyPr/>
        <a:lstStyle/>
        <a:p>
          <a:endParaRPr lang="ru-RU"/>
        </a:p>
      </dgm:t>
    </dgm:pt>
    <dgm:pt modelId="{D7B5117C-4B98-4D31-8471-10A9A19542D9}">
      <dgm:prSet/>
      <dgm:spPr/>
      <dgm:t>
        <a:bodyPr/>
        <a:lstStyle/>
        <a:p>
          <a:r>
            <a:rPr lang="ru-RU" dirty="0"/>
            <a:t>Предсказание</a:t>
          </a:r>
        </a:p>
      </dgm:t>
    </dgm:pt>
    <dgm:pt modelId="{794143E8-6B52-4A6D-B2D3-A8D1D594ED95}" type="parTrans" cxnId="{182A310E-526A-4538-A65D-48018808F8DB}">
      <dgm:prSet/>
      <dgm:spPr/>
      <dgm:t>
        <a:bodyPr/>
        <a:lstStyle/>
        <a:p>
          <a:endParaRPr lang="ru-RU"/>
        </a:p>
      </dgm:t>
    </dgm:pt>
    <dgm:pt modelId="{85F81BC7-E6A5-4F76-884D-91A9A3166482}" type="sibTrans" cxnId="{182A310E-526A-4538-A65D-48018808F8DB}">
      <dgm:prSet/>
      <dgm:spPr/>
      <dgm:t>
        <a:bodyPr/>
        <a:lstStyle/>
        <a:p>
          <a:endParaRPr lang="ru-RU"/>
        </a:p>
      </dgm:t>
    </dgm:pt>
    <dgm:pt modelId="{3851CE56-044D-4E1F-B8E5-A578E0C39BF1}">
      <dgm:prSet/>
      <dgm:spPr/>
      <dgm:t>
        <a:bodyPr/>
        <a:lstStyle/>
        <a:p>
          <a:r>
            <a:rPr lang="ru-RU" dirty="0"/>
            <a:t>Масштабирование координат (</a:t>
          </a:r>
          <a:r>
            <a:rPr lang="en-US" dirty="0" err="1"/>
            <a:t>MinMaxScaler</a:t>
          </a:r>
          <a:r>
            <a:rPr lang="en-US" dirty="0"/>
            <a:t>)</a:t>
          </a:r>
          <a:endParaRPr lang="ru-RU" dirty="0"/>
        </a:p>
      </dgm:t>
    </dgm:pt>
    <dgm:pt modelId="{CEAB869E-D68B-4C75-A7D1-421518169EE1}" type="parTrans" cxnId="{A15562DE-F974-40FA-93D2-39D181AA8CAA}">
      <dgm:prSet/>
      <dgm:spPr/>
      <dgm:t>
        <a:bodyPr/>
        <a:lstStyle/>
        <a:p>
          <a:endParaRPr lang="ru-RU"/>
        </a:p>
      </dgm:t>
    </dgm:pt>
    <dgm:pt modelId="{E34DE327-FCBA-48A2-B3B4-8293C132F197}" type="sibTrans" cxnId="{A15562DE-F974-40FA-93D2-39D181AA8CAA}">
      <dgm:prSet/>
      <dgm:spPr/>
      <dgm:t>
        <a:bodyPr/>
        <a:lstStyle/>
        <a:p>
          <a:endParaRPr lang="ru-RU"/>
        </a:p>
      </dgm:t>
    </dgm:pt>
    <dgm:pt modelId="{BE7C6A18-4C07-4595-8ECB-D44397474FEA}">
      <dgm:prSet/>
      <dgm:spPr/>
      <dgm:t>
        <a:bodyPr/>
        <a:lstStyle/>
        <a:p>
          <a:r>
            <a:rPr lang="ru-RU" dirty="0"/>
            <a:t>Оценка качества и визуализация </a:t>
          </a:r>
        </a:p>
      </dgm:t>
    </dgm:pt>
    <dgm:pt modelId="{5D1E23B6-04E8-4940-92EE-B814A69AC816}" type="parTrans" cxnId="{C19826EF-F671-4C85-81B6-DC605DC03117}">
      <dgm:prSet/>
      <dgm:spPr/>
      <dgm:t>
        <a:bodyPr/>
        <a:lstStyle/>
        <a:p>
          <a:endParaRPr lang="ru-RU"/>
        </a:p>
      </dgm:t>
    </dgm:pt>
    <dgm:pt modelId="{A3B7BF53-AEFC-4A06-AEFF-066CF0475F7E}" type="sibTrans" cxnId="{C19826EF-F671-4C85-81B6-DC605DC03117}">
      <dgm:prSet/>
      <dgm:spPr/>
      <dgm:t>
        <a:bodyPr/>
        <a:lstStyle/>
        <a:p>
          <a:endParaRPr lang="ru-RU"/>
        </a:p>
      </dgm:t>
    </dgm:pt>
    <dgm:pt modelId="{F95CAE2F-C22D-4645-816C-123ACCC1DFA7}" type="pres">
      <dgm:prSet presAssocID="{84059365-B49A-4704-BECC-F87F8B46D791}" presName="Name0" presStyleCnt="0">
        <dgm:presLayoutVars>
          <dgm:dir/>
          <dgm:resizeHandles val="exact"/>
        </dgm:presLayoutVars>
      </dgm:prSet>
      <dgm:spPr/>
    </dgm:pt>
    <dgm:pt modelId="{28D6FE7E-9B15-45BD-80A3-7F8B480F6C1A}" type="pres">
      <dgm:prSet presAssocID="{62FF5C4A-DC48-47C9-95C3-AEE063363692}" presName="node" presStyleLbl="node1" presStyleIdx="0" presStyleCnt="7">
        <dgm:presLayoutVars>
          <dgm:bulletEnabled val="1"/>
        </dgm:presLayoutVars>
      </dgm:prSet>
      <dgm:spPr/>
    </dgm:pt>
    <dgm:pt modelId="{E5905A2A-9F65-46B5-BDEC-E320DE087520}" type="pres">
      <dgm:prSet presAssocID="{5ED31CB2-0A1A-4357-9828-CB1D51FC2EF6}" presName="sibTrans" presStyleLbl="sibTrans2D1" presStyleIdx="0" presStyleCnt="6"/>
      <dgm:spPr/>
    </dgm:pt>
    <dgm:pt modelId="{DB21D2DD-DBCC-4F73-AE1F-6A9F533510A4}" type="pres">
      <dgm:prSet presAssocID="{5ED31CB2-0A1A-4357-9828-CB1D51FC2EF6}" presName="connectorText" presStyleLbl="sibTrans2D1" presStyleIdx="0" presStyleCnt="6"/>
      <dgm:spPr/>
    </dgm:pt>
    <dgm:pt modelId="{95EF891E-FCD9-4D4A-BA97-3C95E4F96C14}" type="pres">
      <dgm:prSet presAssocID="{76CD6202-F072-42CE-A35A-F63050553025}" presName="node" presStyleLbl="node1" presStyleIdx="1" presStyleCnt="7" custLinFactNeighborX="-3087">
        <dgm:presLayoutVars>
          <dgm:bulletEnabled val="1"/>
        </dgm:presLayoutVars>
      </dgm:prSet>
      <dgm:spPr/>
    </dgm:pt>
    <dgm:pt modelId="{83B10EDE-E018-45BC-A8AE-1101B05DB956}" type="pres">
      <dgm:prSet presAssocID="{9520DD92-5877-48EE-BAA7-B5A85945E254}" presName="sibTrans" presStyleLbl="sibTrans2D1" presStyleIdx="1" presStyleCnt="6"/>
      <dgm:spPr/>
    </dgm:pt>
    <dgm:pt modelId="{FE65F45C-6CC9-4998-B8E9-056CA777765A}" type="pres">
      <dgm:prSet presAssocID="{9520DD92-5877-48EE-BAA7-B5A85945E254}" presName="connectorText" presStyleLbl="sibTrans2D1" presStyleIdx="1" presStyleCnt="6"/>
      <dgm:spPr/>
    </dgm:pt>
    <dgm:pt modelId="{5C42B6CD-778D-4646-96D4-72DA67447583}" type="pres">
      <dgm:prSet presAssocID="{3851CE56-044D-4E1F-B8E5-A578E0C39BF1}" presName="node" presStyleLbl="node1" presStyleIdx="2" presStyleCnt="7" custLinFactX="-100000" custLinFactY="54909" custLinFactNeighborX="-102990" custLinFactNeighborY="100000">
        <dgm:presLayoutVars>
          <dgm:bulletEnabled val="1"/>
        </dgm:presLayoutVars>
      </dgm:prSet>
      <dgm:spPr/>
    </dgm:pt>
    <dgm:pt modelId="{166092EC-3E71-431A-B045-AFA558AD8405}" type="pres">
      <dgm:prSet presAssocID="{E34DE327-FCBA-48A2-B3B4-8293C132F197}" presName="sibTrans" presStyleLbl="sibTrans2D1" presStyleIdx="2" presStyleCnt="6"/>
      <dgm:spPr/>
    </dgm:pt>
    <dgm:pt modelId="{E310010F-9D44-4AC6-9B89-0EBA1CD14A67}" type="pres">
      <dgm:prSet presAssocID="{E34DE327-FCBA-48A2-B3B4-8293C132F197}" presName="connectorText" presStyleLbl="sibTrans2D1" presStyleIdx="2" presStyleCnt="6"/>
      <dgm:spPr/>
    </dgm:pt>
    <dgm:pt modelId="{7C0E6DCC-2246-4269-8E2D-454979BD731A}" type="pres">
      <dgm:prSet presAssocID="{702544B7-35ED-4B64-BF9E-8392252063DF}" presName="node" presStyleLbl="node1" presStyleIdx="3" presStyleCnt="7" custLinFactX="-100000" custLinFactY="55008" custLinFactNeighborX="-121610" custLinFactNeighborY="100000">
        <dgm:presLayoutVars>
          <dgm:bulletEnabled val="1"/>
        </dgm:presLayoutVars>
      </dgm:prSet>
      <dgm:spPr/>
    </dgm:pt>
    <dgm:pt modelId="{00E1FC36-3093-4101-B4BB-7135DC4A17DC}" type="pres">
      <dgm:prSet presAssocID="{3E8410B2-C586-4564-8F82-022C23DF5244}" presName="sibTrans" presStyleLbl="sibTrans2D1" presStyleIdx="3" presStyleCnt="6"/>
      <dgm:spPr/>
    </dgm:pt>
    <dgm:pt modelId="{913FFCC5-1821-4AF1-88EE-F8064CCF0D27}" type="pres">
      <dgm:prSet presAssocID="{3E8410B2-C586-4564-8F82-022C23DF5244}" presName="connectorText" presStyleLbl="sibTrans2D1" presStyleIdx="3" presStyleCnt="6"/>
      <dgm:spPr/>
    </dgm:pt>
    <dgm:pt modelId="{36B07B08-302F-4F52-8DCF-F42CB4866177}" type="pres">
      <dgm:prSet presAssocID="{346AEEF2-AEC0-487C-9BB3-D97EAC34FCA4}" presName="node" presStyleLbl="node1" presStyleIdx="4" presStyleCnt="7" custLinFactX="-200000" custLinFactNeighborX="-221621" custLinFactNeighborY="-4497">
        <dgm:presLayoutVars>
          <dgm:bulletEnabled val="1"/>
        </dgm:presLayoutVars>
      </dgm:prSet>
      <dgm:spPr/>
    </dgm:pt>
    <dgm:pt modelId="{C8A00B70-CBE9-4D2E-87CB-943B90725D3F}" type="pres">
      <dgm:prSet presAssocID="{C749205D-888A-4345-883A-BC38EDBCBF16}" presName="sibTrans" presStyleLbl="sibTrans2D1" presStyleIdx="4" presStyleCnt="6"/>
      <dgm:spPr/>
    </dgm:pt>
    <dgm:pt modelId="{F9D812CB-64EF-4ADF-A51F-E5BCF936D35C}" type="pres">
      <dgm:prSet presAssocID="{C749205D-888A-4345-883A-BC38EDBCBF16}" presName="connectorText" presStyleLbl="sibTrans2D1" presStyleIdx="4" presStyleCnt="6"/>
      <dgm:spPr/>
    </dgm:pt>
    <dgm:pt modelId="{BD266F44-72C0-45E5-AB99-DDFD5B6F4A2B}" type="pres">
      <dgm:prSet presAssocID="{D7B5117C-4B98-4D31-8471-10A9A19542D9}" presName="node" presStyleLbl="node1" presStyleIdx="5" presStyleCnt="7" custLinFactX="-200000" custLinFactNeighborX="-226956" custLinFactNeighborY="-4497">
        <dgm:presLayoutVars>
          <dgm:bulletEnabled val="1"/>
        </dgm:presLayoutVars>
      </dgm:prSet>
      <dgm:spPr/>
    </dgm:pt>
    <dgm:pt modelId="{24302A98-8CFD-4B0D-96D5-2ECE1903DA8F}" type="pres">
      <dgm:prSet presAssocID="{85F81BC7-E6A5-4F76-884D-91A9A3166482}" presName="sibTrans" presStyleLbl="sibTrans2D1" presStyleIdx="5" presStyleCnt="6"/>
      <dgm:spPr/>
    </dgm:pt>
    <dgm:pt modelId="{4C9F5EFD-040D-4FFA-B995-06EC67FBCCD2}" type="pres">
      <dgm:prSet presAssocID="{85F81BC7-E6A5-4F76-884D-91A9A3166482}" presName="connectorText" presStyleLbl="sibTrans2D1" presStyleIdx="5" presStyleCnt="6"/>
      <dgm:spPr/>
    </dgm:pt>
    <dgm:pt modelId="{7EC7F6EC-9587-4C82-B902-B70856FF9AD2}" type="pres">
      <dgm:prSet presAssocID="{BE7C6A18-4C07-4595-8ECB-D44397474FEA}" presName="node" presStyleLbl="node1" presStyleIdx="6" presStyleCnt="7" custLinFactX="-200000" custLinFactNeighborX="-237891" custLinFactNeighborY="-4497">
        <dgm:presLayoutVars>
          <dgm:bulletEnabled val="1"/>
        </dgm:presLayoutVars>
      </dgm:prSet>
      <dgm:spPr/>
    </dgm:pt>
  </dgm:ptLst>
  <dgm:cxnLst>
    <dgm:cxn modelId="{E5847800-448B-4CE8-9CCC-2F27D29044D6}" type="presOf" srcId="{76CD6202-F072-42CE-A35A-F63050553025}" destId="{95EF891E-FCD9-4D4A-BA97-3C95E4F96C14}" srcOrd="0" destOrd="0" presId="urn:microsoft.com/office/officeart/2005/8/layout/process1"/>
    <dgm:cxn modelId="{A3905B0B-EB88-4744-937D-44F2F8EE7927}" type="presOf" srcId="{5ED31CB2-0A1A-4357-9828-CB1D51FC2EF6}" destId="{DB21D2DD-DBCC-4F73-AE1F-6A9F533510A4}" srcOrd="1" destOrd="0" presId="urn:microsoft.com/office/officeart/2005/8/layout/process1"/>
    <dgm:cxn modelId="{182A310E-526A-4538-A65D-48018808F8DB}" srcId="{84059365-B49A-4704-BECC-F87F8B46D791}" destId="{D7B5117C-4B98-4D31-8471-10A9A19542D9}" srcOrd="5" destOrd="0" parTransId="{794143E8-6B52-4A6D-B2D3-A8D1D594ED95}" sibTransId="{85F81BC7-E6A5-4F76-884D-91A9A3166482}"/>
    <dgm:cxn modelId="{D1FD7125-05B7-48FB-B1CA-A101BA2AEAAA}" srcId="{84059365-B49A-4704-BECC-F87F8B46D791}" destId="{62FF5C4A-DC48-47C9-95C3-AEE063363692}" srcOrd="0" destOrd="0" parTransId="{76C4323B-A85D-417C-810A-16A1EA141B85}" sibTransId="{5ED31CB2-0A1A-4357-9828-CB1D51FC2EF6}"/>
    <dgm:cxn modelId="{C5E2D030-3CF1-4252-B606-28AF4C7D942C}" type="presOf" srcId="{BE7C6A18-4C07-4595-8ECB-D44397474FEA}" destId="{7EC7F6EC-9587-4C82-B902-B70856FF9AD2}" srcOrd="0" destOrd="0" presId="urn:microsoft.com/office/officeart/2005/8/layout/process1"/>
    <dgm:cxn modelId="{1A1B7F34-67B4-4A5A-9D2F-7AF054FB436F}" type="presOf" srcId="{E34DE327-FCBA-48A2-B3B4-8293C132F197}" destId="{E310010F-9D44-4AC6-9B89-0EBA1CD14A67}" srcOrd="1" destOrd="0" presId="urn:microsoft.com/office/officeart/2005/8/layout/process1"/>
    <dgm:cxn modelId="{33930C3C-FFF9-4DF7-A1F8-A25A6B51D2F3}" type="presOf" srcId="{62FF5C4A-DC48-47C9-95C3-AEE063363692}" destId="{28D6FE7E-9B15-45BD-80A3-7F8B480F6C1A}" srcOrd="0" destOrd="0" presId="urn:microsoft.com/office/officeart/2005/8/layout/process1"/>
    <dgm:cxn modelId="{C77E015B-6741-4A61-94D3-ECA2942E9CB4}" type="presOf" srcId="{3851CE56-044D-4E1F-B8E5-A578E0C39BF1}" destId="{5C42B6CD-778D-4646-96D4-72DA67447583}" srcOrd="0" destOrd="0" presId="urn:microsoft.com/office/officeart/2005/8/layout/process1"/>
    <dgm:cxn modelId="{5C20E243-4045-473A-8660-7804064713B4}" type="presOf" srcId="{9520DD92-5877-48EE-BAA7-B5A85945E254}" destId="{FE65F45C-6CC9-4998-B8E9-056CA777765A}" srcOrd="1" destOrd="0" presId="urn:microsoft.com/office/officeart/2005/8/layout/process1"/>
    <dgm:cxn modelId="{A99DE843-5D74-4FDA-A0F0-FE74E3480A7B}" type="presOf" srcId="{C749205D-888A-4345-883A-BC38EDBCBF16}" destId="{C8A00B70-CBE9-4D2E-87CB-943B90725D3F}" srcOrd="0" destOrd="0" presId="urn:microsoft.com/office/officeart/2005/8/layout/process1"/>
    <dgm:cxn modelId="{2147B249-B8E4-4585-855A-6772D16982DC}" type="presOf" srcId="{85F81BC7-E6A5-4F76-884D-91A9A3166482}" destId="{4C9F5EFD-040D-4FFA-B995-06EC67FBCCD2}" srcOrd="1" destOrd="0" presId="urn:microsoft.com/office/officeart/2005/8/layout/process1"/>
    <dgm:cxn modelId="{A4043A78-21D3-4FEB-9D34-D84B3D82972E}" srcId="{84059365-B49A-4704-BECC-F87F8B46D791}" destId="{702544B7-35ED-4B64-BF9E-8392252063DF}" srcOrd="3" destOrd="0" parTransId="{A8CB79AB-D6E7-469B-ACD7-C27D5C39CB3E}" sibTransId="{3E8410B2-C586-4564-8F82-022C23DF5244}"/>
    <dgm:cxn modelId="{6D9DC68C-0313-4593-B760-095A9F959B7B}" type="presOf" srcId="{D7B5117C-4B98-4D31-8471-10A9A19542D9}" destId="{BD266F44-72C0-45E5-AB99-DDFD5B6F4A2B}" srcOrd="0" destOrd="0" presId="urn:microsoft.com/office/officeart/2005/8/layout/process1"/>
    <dgm:cxn modelId="{253DD390-D746-4B5A-ADAD-89B8B2BA119D}" srcId="{84059365-B49A-4704-BECC-F87F8B46D791}" destId="{346AEEF2-AEC0-487C-9BB3-D97EAC34FCA4}" srcOrd="4" destOrd="0" parTransId="{DF37B987-48C2-413B-A538-C1A1CE1DCC05}" sibTransId="{C749205D-888A-4345-883A-BC38EDBCBF16}"/>
    <dgm:cxn modelId="{D7B65FA8-EE13-4CE9-87D8-260E775F031E}" type="presOf" srcId="{3E8410B2-C586-4564-8F82-022C23DF5244}" destId="{913FFCC5-1821-4AF1-88EE-F8064CCF0D27}" srcOrd="1" destOrd="0" presId="urn:microsoft.com/office/officeart/2005/8/layout/process1"/>
    <dgm:cxn modelId="{69B9B2AB-0884-44F7-933B-620C94111AF9}" type="presOf" srcId="{C749205D-888A-4345-883A-BC38EDBCBF16}" destId="{F9D812CB-64EF-4ADF-A51F-E5BCF936D35C}" srcOrd="1" destOrd="0" presId="urn:microsoft.com/office/officeart/2005/8/layout/process1"/>
    <dgm:cxn modelId="{0CFA05BB-E4EC-44A3-8871-1AF9FCA9C99E}" srcId="{84059365-B49A-4704-BECC-F87F8B46D791}" destId="{76CD6202-F072-42CE-A35A-F63050553025}" srcOrd="1" destOrd="0" parTransId="{D4FF3FA3-E693-4F11-9A75-5E109B4758F9}" sibTransId="{9520DD92-5877-48EE-BAA7-B5A85945E254}"/>
    <dgm:cxn modelId="{14B716C6-63BF-4647-93C5-AF063BA94593}" type="presOf" srcId="{346AEEF2-AEC0-487C-9BB3-D97EAC34FCA4}" destId="{36B07B08-302F-4F52-8DCF-F42CB4866177}" srcOrd="0" destOrd="0" presId="urn:microsoft.com/office/officeart/2005/8/layout/process1"/>
    <dgm:cxn modelId="{DC420DCB-948C-4D67-B651-847A80B7D642}" type="presOf" srcId="{E34DE327-FCBA-48A2-B3B4-8293C132F197}" destId="{166092EC-3E71-431A-B045-AFA558AD8405}" srcOrd="0" destOrd="0" presId="urn:microsoft.com/office/officeart/2005/8/layout/process1"/>
    <dgm:cxn modelId="{7E5BACD4-C6F8-4AA1-8B50-83EFD38B10C7}" type="presOf" srcId="{9520DD92-5877-48EE-BAA7-B5A85945E254}" destId="{83B10EDE-E018-45BC-A8AE-1101B05DB956}" srcOrd="0" destOrd="0" presId="urn:microsoft.com/office/officeart/2005/8/layout/process1"/>
    <dgm:cxn modelId="{8752E9D6-E476-4AE2-9E3C-D38B2AA25299}" type="presOf" srcId="{702544B7-35ED-4B64-BF9E-8392252063DF}" destId="{7C0E6DCC-2246-4269-8E2D-454979BD731A}" srcOrd="0" destOrd="0" presId="urn:microsoft.com/office/officeart/2005/8/layout/process1"/>
    <dgm:cxn modelId="{A15562DE-F974-40FA-93D2-39D181AA8CAA}" srcId="{84059365-B49A-4704-BECC-F87F8B46D791}" destId="{3851CE56-044D-4E1F-B8E5-A578E0C39BF1}" srcOrd="2" destOrd="0" parTransId="{CEAB869E-D68B-4C75-A7D1-421518169EE1}" sibTransId="{E34DE327-FCBA-48A2-B3B4-8293C132F197}"/>
    <dgm:cxn modelId="{46A12AE1-E90F-4DE0-95E4-3667EE029C2E}" type="presOf" srcId="{3E8410B2-C586-4564-8F82-022C23DF5244}" destId="{00E1FC36-3093-4101-B4BB-7135DC4A17DC}" srcOrd="0" destOrd="0" presId="urn:microsoft.com/office/officeart/2005/8/layout/process1"/>
    <dgm:cxn modelId="{BB8D53EA-1B97-409E-A6DB-FA5A9993B5EC}" type="presOf" srcId="{85F81BC7-E6A5-4F76-884D-91A9A3166482}" destId="{24302A98-8CFD-4B0D-96D5-2ECE1903DA8F}" srcOrd="0" destOrd="0" presId="urn:microsoft.com/office/officeart/2005/8/layout/process1"/>
    <dgm:cxn modelId="{C19826EF-F671-4C85-81B6-DC605DC03117}" srcId="{84059365-B49A-4704-BECC-F87F8B46D791}" destId="{BE7C6A18-4C07-4595-8ECB-D44397474FEA}" srcOrd="6" destOrd="0" parTransId="{5D1E23B6-04E8-4940-92EE-B814A69AC816}" sibTransId="{A3B7BF53-AEFC-4A06-AEFF-066CF0475F7E}"/>
    <dgm:cxn modelId="{C13B82F5-756D-4940-9B0D-38557CDAF883}" type="presOf" srcId="{5ED31CB2-0A1A-4357-9828-CB1D51FC2EF6}" destId="{E5905A2A-9F65-46B5-BDEC-E320DE087520}" srcOrd="0" destOrd="0" presId="urn:microsoft.com/office/officeart/2005/8/layout/process1"/>
    <dgm:cxn modelId="{C2C0E2FA-028E-4D89-BE35-1A796F433236}" type="presOf" srcId="{84059365-B49A-4704-BECC-F87F8B46D791}" destId="{F95CAE2F-C22D-4645-816C-123ACCC1DFA7}" srcOrd="0" destOrd="0" presId="urn:microsoft.com/office/officeart/2005/8/layout/process1"/>
    <dgm:cxn modelId="{709715D5-3DD5-4FA0-A3E9-EACCE75B5A39}" type="presParOf" srcId="{F95CAE2F-C22D-4645-816C-123ACCC1DFA7}" destId="{28D6FE7E-9B15-45BD-80A3-7F8B480F6C1A}" srcOrd="0" destOrd="0" presId="urn:microsoft.com/office/officeart/2005/8/layout/process1"/>
    <dgm:cxn modelId="{3492E613-A61E-4887-BD66-D58EAFA20C85}" type="presParOf" srcId="{F95CAE2F-C22D-4645-816C-123ACCC1DFA7}" destId="{E5905A2A-9F65-46B5-BDEC-E320DE087520}" srcOrd="1" destOrd="0" presId="urn:microsoft.com/office/officeart/2005/8/layout/process1"/>
    <dgm:cxn modelId="{AF7CD067-5CFE-4E9B-8B7F-0603EE70CC58}" type="presParOf" srcId="{E5905A2A-9F65-46B5-BDEC-E320DE087520}" destId="{DB21D2DD-DBCC-4F73-AE1F-6A9F533510A4}" srcOrd="0" destOrd="0" presId="urn:microsoft.com/office/officeart/2005/8/layout/process1"/>
    <dgm:cxn modelId="{1C701D5A-889C-4F2F-A932-6FCA8B130C52}" type="presParOf" srcId="{F95CAE2F-C22D-4645-816C-123ACCC1DFA7}" destId="{95EF891E-FCD9-4D4A-BA97-3C95E4F96C14}" srcOrd="2" destOrd="0" presId="urn:microsoft.com/office/officeart/2005/8/layout/process1"/>
    <dgm:cxn modelId="{6597CBD7-5E3F-40E0-875C-444075CC6749}" type="presParOf" srcId="{F95CAE2F-C22D-4645-816C-123ACCC1DFA7}" destId="{83B10EDE-E018-45BC-A8AE-1101B05DB956}" srcOrd="3" destOrd="0" presId="urn:microsoft.com/office/officeart/2005/8/layout/process1"/>
    <dgm:cxn modelId="{D4E8D286-8C65-43A1-B6EF-3B7B92AC706D}" type="presParOf" srcId="{83B10EDE-E018-45BC-A8AE-1101B05DB956}" destId="{FE65F45C-6CC9-4998-B8E9-056CA777765A}" srcOrd="0" destOrd="0" presId="urn:microsoft.com/office/officeart/2005/8/layout/process1"/>
    <dgm:cxn modelId="{DB1EDB1A-7286-4F65-9B17-6603EB5FFC78}" type="presParOf" srcId="{F95CAE2F-C22D-4645-816C-123ACCC1DFA7}" destId="{5C42B6CD-778D-4646-96D4-72DA67447583}" srcOrd="4" destOrd="0" presId="urn:microsoft.com/office/officeart/2005/8/layout/process1"/>
    <dgm:cxn modelId="{CA6B5DE4-E30D-4A24-BD40-6C342DEFCB73}" type="presParOf" srcId="{F95CAE2F-C22D-4645-816C-123ACCC1DFA7}" destId="{166092EC-3E71-431A-B045-AFA558AD8405}" srcOrd="5" destOrd="0" presId="urn:microsoft.com/office/officeart/2005/8/layout/process1"/>
    <dgm:cxn modelId="{26D273AD-C32F-4028-ABA5-98FAF9E14785}" type="presParOf" srcId="{166092EC-3E71-431A-B045-AFA558AD8405}" destId="{E310010F-9D44-4AC6-9B89-0EBA1CD14A67}" srcOrd="0" destOrd="0" presId="urn:microsoft.com/office/officeart/2005/8/layout/process1"/>
    <dgm:cxn modelId="{321F0C12-9A24-41AE-80E9-238068A89BE9}" type="presParOf" srcId="{F95CAE2F-C22D-4645-816C-123ACCC1DFA7}" destId="{7C0E6DCC-2246-4269-8E2D-454979BD731A}" srcOrd="6" destOrd="0" presId="urn:microsoft.com/office/officeart/2005/8/layout/process1"/>
    <dgm:cxn modelId="{F0E9904D-292A-4CBD-88AC-41EB26BB414F}" type="presParOf" srcId="{F95CAE2F-C22D-4645-816C-123ACCC1DFA7}" destId="{00E1FC36-3093-4101-B4BB-7135DC4A17DC}" srcOrd="7" destOrd="0" presId="urn:microsoft.com/office/officeart/2005/8/layout/process1"/>
    <dgm:cxn modelId="{8A7E250C-9E3E-43AD-8E5E-BE53C9136620}" type="presParOf" srcId="{00E1FC36-3093-4101-B4BB-7135DC4A17DC}" destId="{913FFCC5-1821-4AF1-88EE-F8064CCF0D27}" srcOrd="0" destOrd="0" presId="urn:microsoft.com/office/officeart/2005/8/layout/process1"/>
    <dgm:cxn modelId="{DFB452FF-AAF4-4F07-B954-45B43A3350CF}" type="presParOf" srcId="{F95CAE2F-C22D-4645-816C-123ACCC1DFA7}" destId="{36B07B08-302F-4F52-8DCF-F42CB4866177}" srcOrd="8" destOrd="0" presId="urn:microsoft.com/office/officeart/2005/8/layout/process1"/>
    <dgm:cxn modelId="{B5BB157D-9909-49F1-94A9-A9A9ED0C350C}" type="presParOf" srcId="{F95CAE2F-C22D-4645-816C-123ACCC1DFA7}" destId="{C8A00B70-CBE9-4D2E-87CB-943B90725D3F}" srcOrd="9" destOrd="0" presId="urn:microsoft.com/office/officeart/2005/8/layout/process1"/>
    <dgm:cxn modelId="{CE3095DB-2F80-4736-A12F-BF0882A9B424}" type="presParOf" srcId="{C8A00B70-CBE9-4D2E-87CB-943B90725D3F}" destId="{F9D812CB-64EF-4ADF-A51F-E5BCF936D35C}" srcOrd="0" destOrd="0" presId="urn:microsoft.com/office/officeart/2005/8/layout/process1"/>
    <dgm:cxn modelId="{E0220E73-9A94-4168-B701-AA4F7B377DC2}" type="presParOf" srcId="{F95CAE2F-C22D-4645-816C-123ACCC1DFA7}" destId="{BD266F44-72C0-45E5-AB99-DDFD5B6F4A2B}" srcOrd="10" destOrd="0" presId="urn:microsoft.com/office/officeart/2005/8/layout/process1"/>
    <dgm:cxn modelId="{161D9C0A-6189-4E65-90CE-0B94AC97C3DB}" type="presParOf" srcId="{F95CAE2F-C22D-4645-816C-123ACCC1DFA7}" destId="{24302A98-8CFD-4B0D-96D5-2ECE1903DA8F}" srcOrd="11" destOrd="0" presId="urn:microsoft.com/office/officeart/2005/8/layout/process1"/>
    <dgm:cxn modelId="{523F3ACC-2248-4054-8E78-95D6F55ABBCA}" type="presParOf" srcId="{24302A98-8CFD-4B0D-96D5-2ECE1903DA8F}" destId="{4C9F5EFD-040D-4FFA-B995-06EC67FBCCD2}" srcOrd="0" destOrd="0" presId="urn:microsoft.com/office/officeart/2005/8/layout/process1"/>
    <dgm:cxn modelId="{37A96BC1-D805-4AA0-9838-3810B12E7376}" type="presParOf" srcId="{F95CAE2F-C22D-4645-816C-123ACCC1DFA7}" destId="{7EC7F6EC-9587-4C82-B902-B70856FF9AD2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D6FE7E-9B15-45BD-80A3-7F8B480F6C1A}">
      <dsp:nvSpPr>
        <dsp:cNvPr id="0" name=""/>
        <dsp:cNvSpPr/>
      </dsp:nvSpPr>
      <dsp:spPr>
        <a:xfrm>
          <a:off x="3483" y="2775435"/>
          <a:ext cx="1319229" cy="791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Загрузка файла</a:t>
          </a:r>
        </a:p>
      </dsp:txBody>
      <dsp:txXfrm>
        <a:off x="26666" y="2798618"/>
        <a:ext cx="1272863" cy="745171"/>
      </dsp:txXfrm>
    </dsp:sp>
    <dsp:sp modelId="{E5905A2A-9F65-46B5-BDEC-E320DE087520}">
      <dsp:nvSpPr>
        <dsp:cNvPr id="0" name=""/>
        <dsp:cNvSpPr/>
      </dsp:nvSpPr>
      <dsp:spPr>
        <a:xfrm>
          <a:off x="1450563" y="3007620"/>
          <a:ext cx="271043" cy="327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800" kern="1200"/>
        </a:p>
      </dsp:txBody>
      <dsp:txXfrm>
        <a:off x="1450563" y="3073054"/>
        <a:ext cx="189730" cy="196300"/>
      </dsp:txXfrm>
    </dsp:sp>
    <dsp:sp modelId="{95EF891E-FCD9-4D4A-BA97-3C95E4F96C14}">
      <dsp:nvSpPr>
        <dsp:cNvPr id="0" name=""/>
        <dsp:cNvSpPr/>
      </dsp:nvSpPr>
      <dsp:spPr>
        <a:xfrm>
          <a:off x="1834115" y="2775435"/>
          <a:ext cx="1319229" cy="791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Вычисление дополнительных признаков</a:t>
          </a:r>
        </a:p>
      </dsp:txBody>
      <dsp:txXfrm>
        <a:off x="1857298" y="2798618"/>
        <a:ext cx="1272863" cy="745171"/>
      </dsp:txXfrm>
    </dsp:sp>
    <dsp:sp modelId="{83B10EDE-E018-45BC-A8AE-1101B05DB956}">
      <dsp:nvSpPr>
        <dsp:cNvPr id="0" name=""/>
        <dsp:cNvSpPr/>
      </dsp:nvSpPr>
      <dsp:spPr>
        <a:xfrm rot="5398565">
          <a:off x="2378812" y="3627221"/>
          <a:ext cx="230351" cy="327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800" kern="1200"/>
        </a:p>
      </dsp:txBody>
      <dsp:txXfrm>
        <a:off x="2413350" y="3658103"/>
        <a:ext cx="161246" cy="196300"/>
      </dsp:txXfrm>
    </dsp:sp>
    <dsp:sp modelId="{5C42B6CD-778D-4646-96D4-72DA67447583}">
      <dsp:nvSpPr>
        <dsp:cNvPr id="0" name=""/>
        <dsp:cNvSpPr/>
      </dsp:nvSpPr>
      <dsp:spPr>
        <a:xfrm>
          <a:off x="1834626" y="4001598"/>
          <a:ext cx="1319229" cy="791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Масштабирование координат (</a:t>
          </a:r>
          <a:r>
            <a:rPr lang="en-US" sz="1000" kern="1200" dirty="0" err="1"/>
            <a:t>MinMaxScaler</a:t>
          </a:r>
          <a:r>
            <a:rPr lang="en-US" sz="1000" kern="1200" dirty="0"/>
            <a:t>)</a:t>
          </a:r>
          <a:endParaRPr lang="ru-RU" sz="1000" kern="1200" dirty="0"/>
        </a:p>
      </dsp:txBody>
      <dsp:txXfrm>
        <a:off x="1857809" y="4024781"/>
        <a:ext cx="1272863" cy="745171"/>
      </dsp:txXfrm>
    </dsp:sp>
    <dsp:sp modelId="{166092EC-3E71-431A-B045-AFA558AD8405}">
      <dsp:nvSpPr>
        <dsp:cNvPr id="0" name=""/>
        <dsp:cNvSpPr/>
      </dsp:nvSpPr>
      <dsp:spPr>
        <a:xfrm rot="1541">
          <a:off x="3261215" y="4234177"/>
          <a:ext cx="227600" cy="327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800" kern="1200"/>
        </a:p>
      </dsp:txBody>
      <dsp:txXfrm>
        <a:off x="3261215" y="4299596"/>
        <a:ext cx="159320" cy="196300"/>
      </dsp:txXfrm>
    </dsp:sp>
    <dsp:sp modelId="{7C0E6DCC-2246-4269-8E2D-454979BD731A}">
      <dsp:nvSpPr>
        <dsp:cNvPr id="0" name=""/>
        <dsp:cNvSpPr/>
      </dsp:nvSpPr>
      <dsp:spPr>
        <a:xfrm>
          <a:off x="3583292" y="4002382"/>
          <a:ext cx="1319229" cy="791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 err="1"/>
            <a:t>Нормализаци</a:t>
          </a:r>
          <a:r>
            <a:rPr lang="ru-RU" sz="1000" kern="1200" baseline="0" dirty="0"/>
            <a:t> признаков (</a:t>
          </a:r>
          <a:r>
            <a:rPr lang="en-US" sz="1000" kern="1200" baseline="0" dirty="0" err="1"/>
            <a:t>StandartScaler</a:t>
          </a:r>
          <a:r>
            <a:rPr lang="en-US" sz="1000" kern="1200" baseline="0" dirty="0"/>
            <a:t>)</a:t>
          </a:r>
          <a:endParaRPr lang="ru-RU" sz="1000" kern="1200" dirty="0"/>
        </a:p>
      </dsp:txBody>
      <dsp:txXfrm>
        <a:off x="3606475" y="4025565"/>
        <a:ext cx="1272863" cy="745171"/>
      </dsp:txXfrm>
    </dsp:sp>
    <dsp:sp modelId="{00E1FC36-3093-4101-B4BB-7135DC4A17DC}">
      <dsp:nvSpPr>
        <dsp:cNvPr id="0" name=""/>
        <dsp:cNvSpPr/>
      </dsp:nvSpPr>
      <dsp:spPr>
        <a:xfrm rot="16199842">
          <a:off x="4118061" y="3596230"/>
          <a:ext cx="249632" cy="327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800" kern="1200"/>
        </a:p>
      </dsp:txBody>
      <dsp:txXfrm rot="10800000">
        <a:off x="4155508" y="3699109"/>
        <a:ext cx="174742" cy="196300"/>
      </dsp:txXfrm>
    </dsp:sp>
    <dsp:sp modelId="{36B07B08-302F-4F52-8DCF-F42CB4866177}">
      <dsp:nvSpPr>
        <dsp:cNvPr id="0" name=""/>
        <dsp:cNvSpPr/>
      </dsp:nvSpPr>
      <dsp:spPr>
        <a:xfrm>
          <a:off x="3583234" y="2739840"/>
          <a:ext cx="1319229" cy="791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Обучение модели</a:t>
          </a:r>
        </a:p>
      </dsp:txBody>
      <dsp:txXfrm>
        <a:off x="3606417" y="2763023"/>
        <a:ext cx="1272863" cy="745171"/>
      </dsp:txXfrm>
    </dsp:sp>
    <dsp:sp modelId="{C8A00B70-CBE9-4D2E-87CB-943B90725D3F}">
      <dsp:nvSpPr>
        <dsp:cNvPr id="0" name=""/>
        <dsp:cNvSpPr/>
      </dsp:nvSpPr>
      <dsp:spPr>
        <a:xfrm>
          <a:off x="5027348" y="2972024"/>
          <a:ext cx="264755" cy="327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800" kern="1200"/>
        </a:p>
      </dsp:txBody>
      <dsp:txXfrm>
        <a:off x="5027348" y="3037458"/>
        <a:ext cx="185329" cy="196300"/>
      </dsp:txXfrm>
    </dsp:sp>
    <dsp:sp modelId="{BD266F44-72C0-45E5-AB99-DDFD5B6F4A2B}">
      <dsp:nvSpPr>
        <dsp:cNvPr id="0" name=""/>
        <dsp:cNvSpPr/>
      </dsp:nvSpPr>
      <dsp:spPr>
        <a:xfrm>
          <a:off x="5402003" y="2739840"/>
          <a:ext cx="1319229" cy="791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Предсказание</a:t>
          </a:r>
        </a:p>
      </dsp:txBody>
      <dsp:txXfrm>
        <a:off x="5425186" y="2763023"/>
        <a:ext cx="1272863" cy="745171"/>
      </dsp:txXfrm>
    </dsp:sp>
    <dsp:sp modelId="{24302A98-8CFD-4B0D-96D5-2ECE1903DA8F}">
      <dsp:nvSpPr>
        <dsp:cNvPr id="0" name=""/>
        <dsp:cNvSpPr/>
      </dsp:nvSpPr>
      <dsp:spPr>
        <a:xfrm>
          <a:off x="6838729" y="2972024"/>
          <a:ext cx="249094" cy="327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800" kern="1200"/>
        </a:p>
      </dsp:txBody>
      <dsp:txXfrm>
        <a:off x="6838729" y="3037458"/>
        <a:ext cx="174366" cy="196300"/>
      </dsp:txXfrm>
    </dsp:sp>
    <dsp:sp modelId="{7EC7F6EC-9587-4C82-B902-B70856FF9AD2}">
      <dsp:nvSpPr>
        <dsp:cNvPr id="0" name=""/>
        <dsp:cNvSpPr/>
      </dsp:nvSpPr>
      <dsp:spPr>
        <a:xfrm>
          <a:off x="7191221" y="2739840"/>
          <a:ext cx="1319229" cy="791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Оценка качества и визуализация </a:t>
          </a:r>
        </a:p>
      </dsp:txBody>
      <dsp:txXfrm>
        <a:off x="7214404" y="2763023"/>
        <a:ext cx="1272863" cy="745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A9FF6EFF-9E52-9845-5037-33918E4F2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>
            <a:extLst>
              <a:ext uri="{FF2B5EF4-FFF2-40B4-BE49-F238E27FC236}">
                <a16:creationId xmlns:a16="http://schemas.microsoft.com/office/drawing/2014/main" id="{8D7CE5F3-7BFF-9C8E-3371-181F50852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>
            <a:extLst>
              <a:ext uri="{FF2B5EF4-FFF2-40B4-BE49-F238E27FC236}">
                <a16:creationId xmlns:a16="http://schemas.microsoft.com/office/drawing/2014/main" id="{20A7B431-C8E8-7FF7-C9F5-DD9998FA5A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0962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40A0F70A-04D7-5E2A-8CB7-11027B17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>
            <a:extLst>
              <a:ext uri="{FF2B5EF4-FFF2-40B4-BE49-F238E27FC236}">
                <a16:creationId xmlns:a16="http://schemas.microsoft.com/office/drawing/2014/main" id="{A3EE3526-109D-73C3-2C1F-C76C99B767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>
            <a:extLst>
              <a:ext uri="{FF2B5EF4-FFF2-40B4-BE49-F238E27FC236}">
                <a16:creationId xmlns:a16="http://schemas.microsoft.com/office/drawing/2014/main" id="{480DA408-2430-9D38-BFA5-7ACB9762DC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1526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C3D825FB-FA92-E643-CC67-751D7071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>
            <a:extLst>
              <a:ext uri="{FF2B5EF4-FFF2-40B4-BE49-F238E27FC236}">
                <a16:creationId xmlns:a16="http://schemas.microsoft.com/office/drawing/2014/main" id="{74BA7CC9-6EDF-260E-6949-297F15F692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>
            <a:extLst>
              <a:ext uri="{FF2B5EF4-FFF2-40B4-BE49-F238E27FC236}">
                <a16:creationId xmlns:a16="http://schemas.microsoft.com/office/drawing/2014/main" id="{5D34E1B7-580D-CDF1-C351-1D241E432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0894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3EEE391C-BC2B-F9B5-F38E-D73EB2B26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>
            <a:extLst>
              <a:ext uri="{FF2B5EF4-FFF2-40B4-BE49-F238E27FC236}">
                <a16:creationId xmlns:a16="http://schemas.microsoft.com/office/drawing/2014/main" id="{41F140D3-7BED-AE4C-12BF-AE1F0CFBFB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>
            <a:extLst>
              <a:ext uri="{FF2B5EF4-FFF2-40B4-BE49-F238E27FC236}">
                <a16:creationId xmlns:a16="http://schemas.microsoft.com/office/drawing/2014/main" id="{48E15D49-152F-6D68-5E22-366A06A9E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1711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95461D6E-6E7C-9F5E-164A-9FAF6E0B7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>
            <a:extLst>
              <a:ext uri="{FF2B5EF4-FFF2-40B4-BE49-F238E27FC236}">
                <a16:creationId xmlns:a16="http://schemas.microsoft.com/office/drawing/2014/main" id="{C24138C5-2A49-82E3-EA52-D597FB9A42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>
            <a:extLst>
              <a:ext uri="{FF2B5EF4-FFF2-40B4-BE49-F238E27FC236}">
                <a16:creationId xmlns:a16="http://schemas.microsoft.com/office/drawing/2014/main" id="{7DC3176B-5E70-16B3-0B3D-B94B3F1348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6861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1ADE613C-0BB0-6871-FCF8-B94DD2F9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>
            <a:extLst>
              <a:ext uri="{FF2B5EF4-FFF2-40B4-BE49-F238E27FC236}">
                <a16:creationId xmlns:a16="http://schemas.microsoft.com/office/drawing/2014/main" id="{7BC7F16C-639A-CA04-A654-621C3BD5CD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>
            <a:extLst>
              <a:ext uri="{FF2B5EF4-FFF2-40B4-BE49-F238E27FC236}">
                <a16:creationId xmlns:a16="http://schemas.microsoft.com/office/drawing/2014/main" id="{2992DFB3-59B4-7AA9-CD9C-3BF9677F56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1070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0C0887EA-5EAD-514F-FEB3-1E128F1E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>
            <a:extLst>
              <a:ext uri="{FF2B5EF4-FFF2-40B4-BE49-F238E27FC236}">
                <a16:creationId xmlns:a16="http://schemas.microsoft.com/office/drawing/2014/main" id="{0AB3BB8C-5AA4-C8AE-7191-89F7725E9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>
            <a:extLst>
              <a:ext uri="{FF2B5EF4-FFF2-40B4-BE49-F238E27FC236}">
                <a16:creationId xmlns:a16="http://schemas.microsoft.com/office/drawing/2014/main" id="{B56D15B8-69FE-D752-DED2-CFA22ABEB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0664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F92AED42-87B0-0D9B-509D-1AC5573E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>
            <a:extLst>
              <a:ext uri="{FF2B5EF4-FFF2-40B4-BE49-F238E27FC236}">
                <a16:creationId xmlns:a16="http://schemas.microsoft.com/office/drawing/2014/main" id="{54091439-B14E-62DC-CEAB-BB6A25CA1C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>
            <a:extLst>
              <a:ext uri="{FF2B5EF4-FFF2-40B4-BE49-F238E27FC236}">
                <a16:creationId xmlns:a16="http://schemas.microsoft.com/office/drawing/2014/main" id="{8C23BA21-FDE5-73B2-FB2F-52736B13A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7274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97" r:id="rId5"/>
    <p:sldLayoutId id="2147483698" r:id="rId6"/>
    <p:sldLayoutId id="2147483699" r:id="rId7"/>
    <p:sldLayoutId id="214748370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478220" y="1324500"/>
            <a:ext cx="8192813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800" dirty="0"/>
              <a:t>Параллельная сегментация точечных изображений деревьев: сравнительный анализ и оптимизация методов машинного обучения для эффективного разделения кроны и листвы</a:t>
            </a: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800" dirty="0"/>
              <a:t>Курсовая работа</a:t>
            </a:r>
            <a:br>
              <a:rPr lang="ru-RU" sz="1800" dirty="0"/>
            </a:br>
            <a:r>
              <a:rPr lang="ru-RU" sz="1800" dirty="0"/>
              <a:t>Майстренко Марат 323, СКИ ВМК МГУ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3CB4CE49-C59A-2235-37ED-F5DA68F4D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20;p63">
            <a:extLst>
              <a:ext uri="{FF2B5EF4-FFF2-40B4-BE49-F238E27FC236}">
                <a16:creationId xmlns:a16="http://schemas.microsoft.com/office/drawing/2014/main" id="{4D7ADBBC-CDB9-3190-E209-8274D5C787F3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dirty="0"/>
              <a:t>0</a:t>
            </a:r>
            <a:r>
              <a:rPr lang="ru-RU" dirty="0"/>
              <a:t>1</a:t>
            </a:r>
            <a:endParaRPr lang="en" dirty="0"/>
          </a:p>
        </p:txBody>
      </p:sp>
      <p:sp>
        <p:nvSpPr>
          <p:cNvPr id="3" name="Google Shape;535;p63">
            <a:extLst>
              <a:ext uri="{FF2B5EF4-FFF2-40B4-BE49-F238E27FC236}">
                <a16:creationId xmlns:a16="http://schemas.microsoft.com/office/drawing/2014/main" id="{0A726057-3E04-6DAD-44DF-26B79756BE9A}"/>
              </a:ext>
            </a:extLst>
          </p:cNvPr>
          <p:cNvSpPr txBox="1">
            <a:spLocks/>
          </p:cNvSpPr>
          <p:nvPr/>
        </p:nvSpPr>
        <p:spPr>
          <a:xfrm>
            <a:off x="207606" y="299545"/>
            <a:ext cx="872888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Введение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06D5F64F-B1BF-6AC7-1ED6-C9328AD61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277" y="1464451"/>
            <a:ext cx="8829446" cy="2346767"/>
          </a:xfrm>
        </p:spPr>
        <p:txBody>
          <a:bodyPr/>
          <a:lstStyle/>
          <a:p>
            <a:pPr algn="l"/>
            <a:r>
              <a:rPr lang="ru-RU" sz="1600" b="1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Облако точек </a:t>
            </a:r>
            <a:r>
              <a:rPr lang="en-US" sz="1600" dirty="0">
                <a:latin typeface="Montserrat" panose="00000500000000000000" pitchFamily="2" charset="-52"/>
                <a:ea typeface="Calibri" panose="020F0502020204030204" pitchFamily="34" charset="0"/>
              </a:rPr>
              <a:t>–</a:t>
            </a: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 набор точек данных в трёхмерной системе координат.</a:t>
            </a:r>
            <a:br>
              <a:rPr lang="en-US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</a:br>
            <a:b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</a:br>
            <a:endParaRPr lang="en-US" sz="1600" dirty="0">
              <a:effectLst/>
              <a:latin typeface="Montserrat" panose="00000500000000000000" pitchFamily="2" charset="-52"/>
              <a:ea typeface="Calibri" panose="020F0502020204030204" pitchFamily="34" charset="0"/>
            </a:endParaRPr>
          </a:p>
          <a:p>
            <a:pPr algn="l"/>
            <a:r>
              <a:rPr lang="ru-RU" sz="1600" b="1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Кластеризация </a:t>
            </a:r>
            <a:r>
              <a:rPr lang="en-US" sz="1600" dirty="0">
                <a:latin typeface="Montserrat" panose="00000500000000000000" pitchFamily="2" charset="-52"/>
                <a:ea typeface="Calibri" panose="020F0502020204030204" pitchFamily="34" charset="0"/>
              </a:rPr>
              <a:t>–</a:t>
            </a: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 процесс поиска сходства с целью объединения в группы</a:t>
            </a:r>
            <a:r>
              <a:rPr lang="en-US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.</a:t>
            </a:r>
            <a:br>
              <a:rPr lang="en-US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</a:br>
            <a:br>
              <a:rPr lang="ru-RU" sz="1600" dirty="0">
                <a:latin typeface="Montserrat" panose="00000500000000000000" pitchFamily="2" charset="-52"/>
                <a:ea typeface="Calibri" panose="020F0502020204030204" pitchFamily="34" charset="0"/>
              </a:rPr>
            </a:br>
            <a:endParaRPr lang="en-US" sz="1600" dirty="0">
              <a:effectLst/>
              <a:latin typeface="Montserrat" panose="00000500000000000000" pitchFamily="2" charset="-52"/>
              <a:ea typeface="Calibri" panose="020F0502020204030204" pitchFamily="34" charset="0"/>
            </a:endParaRPr>
          </a:p>
          <a:p>
            <a:pPr algn="l"/>
            <a:r>
              <a:rPr lang="ru-RU" sz="1600" b="1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Сегментация </a:t>
            </a:r>
            <a:r>
              <a:rPr lang="en-US" sz="1600" dirty="0">
                <a:latin typeface="Montserrat" panose="00000500000000000000" pitchFamily="2" charset="-52"/>
                <a:ea typeface="Calibri" panose="020F0502020204030204" pitchFamily="34" charset="0"/>
              </a:rPr>
              <a:t>– </a:t>
            </a: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процедура классификации объектов в однородные группы согласно их схожим характеристикам. </a:t>
            </a:r>
            <a:r>
              <a:rPr lang="ru-RU" sz="1600" dirty="0">
                <a:solidFill>
                  <a:srgbClr val="404040"/>
                </a:solidFill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 </a:t>
            </a:r>
            <a:endParaRPr lang="ru-RU" sz="16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796516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20;p63">
            <a:extLst>
              <a:ext uri="{FF2B5EF4-FFF2-40B4-BE49-F238E27FC236}">
                <a16:creationId xmlns:a16="http://schemas.microsoft.com/office/drawing/2014/main" id="{A758C4F3-4484-60E4-52D0-208821F9E548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dirty="0"/>
              <a:t>0</a:t>
            </a:r>
            <a:r>
              <a:rPr lang="en-US" dirty="0"/>
              <a:t>2</a:t>
            </a:r>
            <a:endParaRPr lang="en" dirty="0"/>
          </a:p>
        </p:txBody>
      </p:sp>
      <p:sp>
        <p:nvSpPr>
          <p:cNvPr id="3" name="Google Shape;535;p63">
            <a:extLst>
              <a:ext uri="{FF2B5EF4-FFF2-40B4-BE49-F238E27FC236}">
                <a16:creationId xmlns:a16="http://schemas.microsoft.com/office/drawing/2014/main" id="{F6AB4F67-7DF4-9C06-C1CA-20D431E19CE6}"/>
              </a:ext>
            </a:extLst>
          </p:cNvPr>
          <p:cNvSpPr txBox="1">
            <a:spLocks/>
          </p:cNvSpPr>
          <p:nvPr/>
        </p:nvSpPr>
        <p:spPr>
          <a:xfrm>
            <a:off x="207606" y="299545"/>
            <a:ext cx="872888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Проблематика и цель работы</a:t>
            </a:r>
          </a:p>
        </p:txBody>
      </p:sp>
      <p:sp>
        <p:nvSpPr>
          <p:cNvPr id="5" name="Подзаголовок 3">
            <a:extLst>
              <a:ext uri="{FF2B5EF4-FFF2-40B4-BE49-F238E27FC236}">
                <a16:creationId xmlns:a16="http://schemas.microsoft.com/office/drawing/2014/main" id="{D1F3ABAA-2F78-7050-A7BB-FBBBC4A73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443" y="1345609"/>
            <a:ext cx="8689240" cy="3489465"/>
          </a:xfrm>
        </p:spPr>
        <p:txBody>
          <a:bodyPr/>
          <a:lstStyle/>
          <a:p>
            <a:pPr marL="114300" indent="0" algn="l">
              <a:lnSpc>
                <a:spcPct val="150000"/>
              </a:lnSpc>
            </a:pPr>
            <a:r>
              <a:rPr lang="ru-RU" sz="1600" b="1" dirty="0">
                <a:solidFill>
                  <a:srgbClr val="000000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Проблема</a:t>
            </a:r>
            <a:r>
              <a:rPr lang="ru-RU" sz="1600" dirty="0">
                <a:solidFill>
                  <a:srgbClr val="000000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 – большие объемы генерируемых данных</a:t>
            </a:r>
            <a:br>
              <a:rPr lang="ru-RU" sz="1600" dirty="0">
                <a:solidFill>
                  <a:srgbClr val="000000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ontserrat" panose="00000500000000000000" pitchFamily="2" charset="-52"/>
              <a:ea typeface="Times New Roman" panose="02020603050405020304" pitchFamily="18" charset="0"/>
            </a:endParaRPr>
          </a:p>
          <a:p>
            <a:pPr marL="114300" indent="0" algn="l">
              <a:lnSpc>
                <a:spcPct val="150000"/>
              </a:lnSpc>
            </a:pPr>
            <a:r>
              <a:rPr lang="ru-RU" sz="1600" b="1" dirty="0"/>
              <a:t>Цель работы </a:t>
            </a:r>
            <a:r>
              <a:rPr lang="ru-RU" sz="1600" dirty="0"/>
              <a:t>- оптимизировать и ускорить сегментацию данных, полученных лазерным сканированием, с помощью машинного обучения и параллельных вычислений.</a:t>
            </a:r>
            <a:endParaRPr lang="ru-RU" sz="1600" dirty="0">
              <a:solidFill>
                <a:srgbClr val="000000"/>
              </a:solidFill>
              <a:effectLst/>
              <a:latin typeface="Montserrat" panose="00000500000000000000" pitchFamily="2" charset="-52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35;p63">
            <a:extLst>
              <a:ext uri="{FF2B5EF4-FFF2-40B4-BE49-F238E27FC236}">
                <a16:creationId xmlns:a16="http://schemas.microsoft.com/office/drawing/2014/main" id="{F108CE6C-61DC-5E8C-D33A-F46555D2025F}"/>
              </a:ext>
            </a:extLst>
          </p:cNvPr>
          <p:cNvSpPr txBox="1">
            <a:spLocks/>
          </p:cNvSpPr>
          <p:nvPr/>
        </p:nvSpPr>
        <p:spPr>
          <a:xfrm>
            <a:off x="207606" y="299545"/>
            <a:ext cx="872888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Данные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8EB23AC5-3BD2-ABAA-9BD5-2844EC156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263033"/>
              </p:ext>
            </p:extLst>
          </p:nvPr>
        </p:nvGraphicFramePr>
        <p:xfrm>
          <a:off x="4523014" y="1554222"/>
          <a:ext cx="4343399" cy="2814960"/>
        </p:xfrm>
        <a:graphic>
          <a:graphicData uri="http://schemas.openxmlformats.org/drawingml/2006/table">
            <a:tbl>
              <a:tblPr firstRow="1" firstCol="1" bandRow="1">
                <a:tableStyleId>{4EC0654D-B984-4BB0-A0E2-CA0E37993183}</a:tableStyleId>
              </a:tblPr>
              <a:tblGrid>
                <a:gridCol w="1191986">
                  <a:extLst>
                    <a:ext uri="{9D8B030D-6E8A-4147-A177-3AD203B41FA5}">
                      <a16:colId xmlns:a16="http://schemas.microsoft.com/office/drawing/2014/main" val="280042884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579923910"/>
                    </a:ext>
                  </a:extLst>
                </a:gridCol>
                <a:gridCol w="1703613">
                  <a:extLst>
                    <a:ext uri="{9D8B030D-6E8A-4147-A177-3AD203B41FA5}">
                      <a16:colId xmlns:a16="http://schemas.microsoft.com/office/drawing/2014/main" val="732346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laz-</a:t>
                      </a:r>
                      <a:r>
                        <a:rPr lang="ru-RU" sz="1400" dirty="0">
                          <a:effectLst/>
                        </a:rPr>
                        <a:t>файла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Объем файла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Количество точек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912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r>
                        <a:rPr lang="en-US" sz="1400">
                          <a:effectLst/>
                        </a:rPr>
                        <a:t>.laz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78.23</a:t>
                      </a:r>
                      <a:r>
                        <a:rPr lang="ru-RU" sz="1400">
                          <a:effectLst/>
                        </a:rPr>
                        <a:t> мб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6 382 773 шт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3097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2.laz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127.32 мб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10 627 158 шт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6615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3.laz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35.47 мб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2 611 685 шт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7998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4.laz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19.73 мб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1 710 699 шт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1010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5.laz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112.19 мб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9 707 837 шт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6993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6.laz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39.63 мб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3 936 054 шт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7320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7.laz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15.76 мб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1 322 666 шт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7728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8.laz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67.93 мб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5 852 254 шт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190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9.laz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6.33 мб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479 034 шт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626167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3CEE91AE-09B7-31EA-CFAA-2E82BD66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7686" y="4404651"/>
            <a:ext cx="263405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Характеристики </a:t>
            </a:r>
            <a:r>
              <a:rPr kumimoji="0" lang="en-US" altLang="ru-RU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laz</a:t>
            </a:r>
            <a:r>
              <a:rPr kumimoji="0" lang="ru-RU" altLang="ru-RU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-файлов</a:t>
            </a:r>
            <a:r>
              <a:rPr lang="ru-RU" altLang="ru-RU" sz="1100" i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</a:t>
            </a:r>
            <a:r>
              <a:rPr lang="ru-RU" altLang="ru-RU" sz="1100" i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датесете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Google Shape;520;p63">
            <a:extLst>
              <a:ext uri="{FF2B5EF4-FFF2-40B4-BE49-F238E27FC236}">
                <a16:creationId xmlns:a16="http://schemas.microsoft.com/office/drawing/2014/main" id="{60BF4D70-168B-AFB4-D1B4-6F3A43C2536F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dirty="0"/>
              <a:t>0</a:t>
            </a:r>
            <a:r>
              <a:rPr lang="en-US" dirty="0"/>
              <a:t>3</a:t>
            </a:r>
            <a:endParaRPr lang="en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F50C262-5938-A14C-4DDA-7270743D6825}"/>
              </a:ext>
            </a:extLst>
          </p:cNvPr>
          <p:cNvGrpSpPr/>
          <p:nvPr/>
        </p:nvGrpSpPr>
        <p:grpSpPr>
          <a:xfrm>
            <a:off x="160054" y="2517571"/>
            <a:ext cx="1989312" cy="2031225"/>
            <a:chOff x="101163" y="287655"/>
            <a:chExt cx="2207172" cy="2254130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C619C8A8-801A-5D6D-C034-D3A0E37F7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5" t="11503" r="56097" b="5813"/>
            <a:stretch/>
          </p:blipFill>
          <p:spPr bwMode="auto">
            <a:xfrm>
              <a:off x="101163" y="287655"/>
              <a:ext cx="2207172" cy="20676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Надпись 1">
              <a:extLst>
                <a:ext uri="{FF2B5EF4-FFF2-40B4-BE49-F238E27FC236}">
                  <a16:creationId xmlns:a16="http://schemas.microsoft.com/office/drawing/2014/main" id="{93CD1314-AAD6-131B-A2F9-FE9C2E611B05}"/>
                </a:ext>
              </a:extLst>
            </p:cNvPr>
            <p:cNvSpPr txBox="1"/>
            <p:nvPr/>
          </p:nvSpPr>
          <p:spPr>
            <a:xfrm>
              <a:off x="101163" y="2372474"/>
              <a:ext cx="2207172" cy="169311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ru-RU" sz="110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Визуализация файла 1.laz</a:t>
              </a:r>
              <a:endParaRPr lang="ru-RU" sz="900" i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3101845-9DF4-7F18-4649-D2C5F305FD92}"/>
              </a:ext>
            </a:extLst>
          </p:cNvPr>
          <p:cNvGrpSpPr/>
          <p:nvPr/>
        </p:nvGrpSpPr>
        <p:grpSpPr>
          <a:xfrm>
            <a:off x="2359856" y="2517571"/>
            <a:ext cx="1944237" cy="2031225"/>
            <a:chOff x="117562" y="287653"/>
            <a:chExt cx="2170387" cy="221139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5E8BF293-4C59-E6A5-ADF0-3AA0F66A4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5" t="11497" r="56495" b="6882"/>
            <a:stretch/>
          </p:blipFill>
          <p:spPr bwMode="auto">
            <a:xfrm>
              <a:off x="117562" y="287653"/>
              <a:ext cx="2170387" cy="20420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Надпись 1">
              <a:extLst>
                <a:ext uri="{FF2B5EF4-FFF2-40B4-BE49-F238E27FC236}">
                  <a16:creationId xmlns:a16="http://schemas.microsoft.com/office/drawing/2014/main" id="{A7D114A9-17E3-2A8F-2817-557651FA49BB}"/>
                </a:ext>
              </a:extLst>
            </p:cNvPr>
            <p:cNvSpPr txBox="1"/>
            <p:nvPr/>
          </p:nvSpPr>
          <p:spPr>
            <a:xfrm>
              <a:off x="117562" y="2329732"/>
              <a:ext cx="2170387" cy="169313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ru-RU" sz="110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Визуализация файла 8.laz</a:t>
              </a:r>
              <a:endParaRPr lang="ru-RU" sz="900" i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BE0C3E1-C738-074E-DFCC-5B270888FE31}"/>
              </a:ext>
            </a:extLst>
          </p:cNvPr>
          <p:cNvSpPr txBox="1"/>
          <p:nvPr/>
        </p:nvSpPr>
        <p:spPr>
          <a:xfrm>
            <a:off x="277587" y="1171968"/>
            <a:ext cx="88938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dirty="0">
                <a:solidFill>
                  <a:srgbClr val="1A1A1A"/>
                </a:solidFill>
                <a:effectLst/>
                <a:latin typeface="Montserrat" panose="00000500000000000000" pitchFamily="2" charset="-52"/>
              </a:rPr>
              <a:t>В датасете 9 деревьев различных пород из центральноевропейских лесов</a:t>
            </a:r>
            <a:r>
              <a:rPr lang="ru-RU" sz="1600" dirty="0">
                <a:solidFill>
                  <a:srgbClr val="1A1A1A"/>
                </a:solidFill>
                <a:latin typeface="Montserrat" panose="00000500000000000000" pitchFamily="2" charset="-52"/>
              </a:rPr>
              <a:t>.</a:t>
            </a:r>
            <a:br>
              <a:rPr lang="ru-RU" sz="1600" dirty="0">
                <a:solidFill>
                  <a:srgbClr val="1A1A1A"/>
                </a:solidFill>
                <a:latin typeface="Montserrat" panose="00000500000000000000" pitchFamily="2" charset="-52"/>
              </a:rPr>
            </a:br>
            <a:endParaRPr lang="ru-RU" sz="1600" dirty="0">
              <a:solidFill>
                <a:srgbClr val="1A1A1A"/>
              </a:solidFill>
              <a:latin typeface="Montserrat" panose="00000500000000000000" pitchFamily="2" charset="-52"/>
            </a:endParaRPr>
          </a:p>
          <a:p>
            <a:r>
              <a:rPr lang="ru-RU" sz="1600" dirty="0">
                <a:solidFill>
                  <a:srgbClr val="1A1A1A"/>
                </a:solidFill>
                <a:latin typeface="Montserrat" panose="00000500000000000000" pitchFamily="2" charset="-52"/>
              </a:rPr>
              <a:t>К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Montserrat" panose="00000500000000000000" pitchFamily="2" charset="-52"/>
              </a:rPr>
              <a:t>оллекция собрана университетом </a:t>
            </a:r>
            <a:br>
              <a:rPr lang="ru-RU" sz="1600" b="0" i="0" dirty="0">
                <a:solidFill>
                  <a:srgbClr val="1A1A1A"/>
                </a:solidFill>
                <a:effectLst/>
                <a:latin typeface="Montserrat" panose="00000500000000000000" pitchFamily="2" charset="-52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Montserrat" panose="00000500000000000000" pitchFamily="2" charset="-52"/>
              </a:rPr>
              <a:t>Гейдельберг с помощью наземного</a:t>
            </a:r>
            <a:br>
              <a:rPr lang="ru-RU" sz="1600" b="0" i="0" dirty="0">
                <a:solidFill>
                  <a:srgbClr val="1A1A1A"/>
                </a:solidFill>
                <a:effectLst/>
                <a:latin typeface="Montserrat" panose="00000500000000000000" pitchFamily="2" charset="-52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Montserrat" panose="00000500000000000000" pitchFamily="2" charset="-52"/>
              </a:rPr>
              <a:t>сканирования.</a:t>
            </a:r>
            <a:endParaRPr lang="ru-RU" sz="16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237978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7E7AA43C-05B2-A131-7A92-328A829B69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4608747"/>
              </p:ext>
            </p:extLst>
          </p:nvPr>
        </p:nvGraphicFramePr>
        <p:xfrm>
          <a:off x="436106" y="-599455"/>
          <a:ext cx="12407725" cy="6342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Google Shape;535;p63">
            <a:extLst>
              <a:ext uri="{FF2B5EF4-FFF2-40B4-BE49-F238E27FC236}">
                <a16:creationId xmlns:a16="http://schemas.microsoft.com/office/drawing/2014/main" id="{2888F393-E80E-19B7-06E2-85103AC36980}"/>
              </a:ext>
            </a:extLst>
          </p:cNvPr>
          <p:cNvSpPr txBox="1">
            <a:spLocks/>
          </p:cNvSpPr>
          <p:nvPr/>
        </p:nvSpPr>
        <p:spPr>
          <a:xfrm>
            <a:off x="207606" y="299545"/>
            <a:ext cx="872888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Конвейер сегментации облаков точек</a:t>
            </a:r>
          </a:p>
        </p:txBody>
      </p:sp>
      <p:sp>
        <p:nvSpPr>
          <p:cNvPr id="7" name="Google Shape;520;p63">
            <a:extLst>
              <a:ext uri="{FF2B5EF4-FFF2-40B4-BE49-F238E27FC236}">
                <a16:creationId xmlns:a16="http://schemas.microsoft.com/office/drawing/2014/main" id="{F9443AAD-F24C-429A-A084-6FE2E20E5024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dirty="0"/>
              <a:t>0</a:t>
            </a:r>
            <a:r>
              <a:rPr lang="en-US" dirty="0"/>
              <a:t>4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173005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55C85-ECB4-E365-2356-6E226F32C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35;p63">
            <a:extLst>
              <a:ext uri="{FF2B5EF4-FFF2-40B4-BE49-F238E27FC236}">
                <a16:creationId xmlns:a16="http://schemas.microsoft.com/office/drawing/2014/main" id="{8DA2AA06-61DC-FDAB-2E82-1C924CC24EB5}"/>
              </a:ext>
            </a:extLst>
          </p:cNvPr>
          <p:cNvSpPr txBox="1">
            <a:spLocks/>
          </p:cNvSpPr>
          <p:nvPr/>
        </p:nvSpPr>
        <p:spPr>
          <a:xfrm>
            <a:off x="207606" y="299545"/>
            <a:ext cx="872888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Предобработка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680AE2-0E70-B2D1-D125-52F1501AB64A}"/>
                  </a:ext>
                </a:extLst>
              </p:cNvPr>
              <p:cNvSpPr txBox="1"/>
              <p:nvPr/>
            </p:nvSpPr>
            <p:spPr>
              <a:xfrm>
                <a:off x="441835" y="1325607"/>
                <a:ext cx="3658402" cy="2978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ru-RU" sz="1600" b="1" dirty="0">
                    <a:effectLst/>
                    <a:latin typeface="Montserrat" panose="00000500000000000000" pitchFamily="2" charset="-52"/>
                    <a:ea typeface="Calibri" panose="020F0502020204030204" pitchFamily="34" charset="0"/>
                  </a:rPr>
                  <a:t>Линейный индекс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𝐿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sz="1600" dirty="0">
                    <a:effectLst/>
                    <a:latin typeface="Montserrat" panose="00000500000000000000" pitchFamily="2" charset="-52"/>
                    <a:ea typeface="Times New Roman" panose="02020603050405020304" pitchFamily="18" charset="0"/>
                  </a:rPr>
                  <a:t> </a:t>
                </a:r>
                <a:endParaRPr lang="ru-RU" sz="1600" dirty="0">
                  <a:latin typeface="Montserrat" panose="00000500000000000000" pitchFamily="2" charset="-52"/>
                  <a:ea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ru-RU" sz="1600" b="1" dirty="0">
                    <a:effectLst/>
                    <a:latin typeface="Montserrat" panose="00000500000000000000" pitchFamily="2" charset="-52"/>
                    <a:ea typeface="Calibri" panose="020F0502020204030204" pitchFamily="34" charset="0"/>
                  </a:rPr>
                  <a:t>Планарный индекс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λ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sz="1600" dirty="0">
                    <a:effectLst/>
                    <a:latin typeface="Montserrat" panose="00000500000000000000" pitchFamily="2" charset="-52"/>
                    <a:ea typeface="Times New Roman" panose="02020603050405020304" pitchFamily="18" charset="0"/>
                  </a:rPr>
                  <a:t> 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ru-RU" sz="1600" b="1" dirty="0">
                    <a:effectLst/>
                    <a:latin typeface="Montserrat" panose="00000500000000000000" pitchFamily="2" charset="-52"/>
                    <a:ea typeface="Calibri" panose="020F0502020204030204" pitchFamily="34" charset="0"/>
                  </a:rPr>
                  <a:t>Рассеянный индекс</a:t>
                </a:r>
                <a:r>
                  <a:rPr lang="ru-RU" sz="1600" dirty="0">
                    <a:effectLst/>
                    <a:latin typeface="Montserrat" panose="00000500000000000000" pitchFamily="2" charset="-52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sz="1600" dirty="0">
                    <a:effectLst/>
                    <a:latin typeface="Montserrat" panose="00000500000000000000" pitchFamily="2" charset="-52"/>
                    <a:ea typeface="Times New Roman" panose="02020603050405020304" pitchFamily="18" charset="0"/>
                  </a:rPr>
                  <a:t> 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ru-RU" sz="1600" b="1" dirty="0">
                    <a:effectLst/>
                    <a:latin typeface="Montserrat" panose="00000500000000000000" pitchFamily="2" charset="-52"/>
                    <a:ea typeface="Calibri" panose="020F0502020204030204" pitchFamily="34" charset="0"/>
                  </a:rPr>
                  <a:t>Кривизна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sz="1600" b="1" dirty="0">
                    <a:effectLst/>
                    <a:latin typeface="Montserrat" panose="00000500000000000000" pitchFamily="2" charset="-52"/>
                    <a:ea typeface="Times New Roman" panose="02020603050405020304" pitchFamily="18" charset="0"/>
                  </a:rPr>
                  <a:t> 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</a:pPr>
                <a:r>
                  <a:rPr lang="ru-RU" sz="1600" b="1" dirty="0">
                    <a:effectLst/>
                    <a:latin typeface="Montserrat" panose="00000500000000000000" pitchFamily="2" charset="-52"/>
                    <a:ea typeface="Calibri" panose="020F0502020204030204" pitchFamily="34" charset="0"/>
                  </a:rPr>
                  <a:t>Отношение </a:t>
                </a:r>
                <a:r>
                  <a:rPr lang="en-US" sz="1600" b="1" dirty="0">
                    <a:effectLst/>
                    <a:latin typeface="Montserrat" panose="00000500000000000000" pitchFamily="2" charset="-52"/>
                    <a:ea typeface="Calibri" panose="020F0502020204030204" pitchFamily="34" charset="0"/>
                  </a:rPr>
                  <a:t>c.</a:t>
                </a:r>
                <a:r>
                  <a:rPr lang="ru-RU" sz="1600" b="1" dirty="0">
                    <a:effectLst/>
                    <a:latin typeface="Montserrat" panose="00000500000000000000" pitchFamily="2" charset="-52"/>
                    <a:ea typeface="Calibri" panose="020F0502020204030204" pitchFamily="34" charset="0"/>
                  </a:rPr>
                  <a:t> з</a:t>
                </a:r>
                <a:r>
                  <a:rPr lang="en-US" sz="1600" b="1" dirty="0">
                    <a:latin typeface="Montserrat" panose="00000500000000000000" pitchFamily="2" charset="-52"/>
                    <a:ea typeface="Calibri" panose="020F0502020204030204" pitchFamily="34" charset="0"/>
                  </a:rPr>
                  <a:t>.</a:t>
                </a:r>
                <a:r>
                  <a:rPr lang="ru-RU" sz="1600" b="1" dirty="0">
                    <a:effectLst/>
                    <a:latin typeface="Montserrat" panose="00000500000000000000" pitchFamily="2" charset="-52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ru-RU" sz="1600" dirty="0">
                  <a:effectLst/>
                  <a:latin typeface="Montserrat" panose="00000500000000000000" pitchFamily="2" charset="-52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680AE2-0E70-B2D1-D125-52F1501AB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35" y="1325607"/>
                <a:ext cx="3658402" cy="2978059"/>
              </a:xfrm>
              <a:prstGeom prst="rect">
                <a:avLst/>
              </a:prstGeom>
              <a:blipFill>
                <a:blip r:embed="rId2"/>
                <a:stretch>
                  <a:fillRect l="-8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520;p63">
            <a:extLst>
              <a:ext uri="{FF2B5EF4-FFF2-40B4-BE49-F238E27FC236}">
                <a16:creationId xmlns:a16="http://schemas.microsoft.com/office/drawing/2014/main" id="{F1DD1C0A-3D64-299A-37CB-1CCCC219E80A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dirty="0"/>
              <a:t>0</a:t>
            </a:r>
            <a:r>
              <a:rPr lang="en-US" dirty="0"/>
              <a:t>5</a:t>
            </a:r>
            <a:endParaRPr lang="e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EE5187-5B8A-D4A7-D34A-F9E2F04F6D9F}"/>
              </a:ext>
            </a:extLst>
          </p:cNvPr>
          <p:cNvSpPr txBox="1"/>
          <p:nvPr/>
        </p:nvSpPr>
        <p:spPr>
          <a:xfrm>
            <a:off x="4620047" y="2235310"/>
            <a:ext cx="4393324" cy="1158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600" b="1" dirty="0">
                <a:latin typeface="Montserrat" panose="00000500000000000000" pitchFamily="2" charset="-52"/>
                <a:ea typeface="Calibri" panose="020F0502020204030204" pitchFamily="34" charset="0"/>
              </a:rPr>
              <a:t>Предобработка:</a:t>
            </a:r>
          </a:p>
          <a:p>
            <a:pPr lvl="0" algn="just">
              <a:lnSpc>
                <a:spcPct val="150000"/>
              </a:lnSpc>
            </a:pP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	Координаты – </a:t>
            </a:r>
            <a:r>
              <a:rPr lang="en-US" sz="1600" dirty="0" err="1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MinMaxScaler</a:t>
            </a:r>
            <a:r>
              <a:rPr lang="en-US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()</a:t>
            </a:r>
          </a:p>
          <a:p>
            <a:pPr lvl="0" algn="just">
              <a:lnSpc>
                <a:spcPct val="150000"/>
              </a:lnSpc>
            </a:pPr>
            <a:r>
              <a:rPr lang="en-US" sz="1600" dirty="0">
                <a:latin typeface="Montserrat" panose="00000500000000000000" pitchFamily="2" charset="-52"/>
                <a:ea typeface="Calibri" panose="020F0502020204030204" pitchFamily="34" charset="0"/>
              </a:rPr>
              <a:t>	</a:t>
            </a:r>
            <a:r>
              <a:rPr lang="ru-RU" sz="1600" dirty="0">
                <a:latin typeface="Montserrat" panose="00000500000000000000" pitchFamily="2" charset="-52"/>
                <a:ea typeface="Calibri" panose="020F0502020204030204" pitchFamily="34" charset="0"/>
              </a:rPr>
              <a:t>Признаки – </a:t>
            </a:r>
            <a:r>
              <a:rPr lang="en-US" sz="1600" dirty="0" err="1">
                <a:latin typeface="Montserrat" panose="00000500000000000000" pitchFamily="2" charset="-52"/>
                <a:ea typeface="Calibri" panose="020F0502020204030204" pitchFamily="34" charset="0"/>
              </a:rPr>
              <a:t>StandartScaler</a:t>
            </a:r>
            <a:r>
              <a:rPr lang="en-US" sz="1600" dirty="0">
                <a:latin typeface="Montserrat" panose="00000500000000000000" pitchFamily="2" charset="-52"/>
                <a:ea typeface="Calibri" panose="020F0502020204030204" pitchFamily="34" charset="0"/>
              </a:rPr>
              <a:t>()</a:t>
            </a:r>
            <a:endParaRPr lang="en-US" sz="1600" dirty="0">
              <a:effectLst/>
              <a:latin typeface="Montserrat" panose="00000500000000000000" pitchFamily="2" charset="-52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147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6229FC93-AF60-FD5F-8598-7B898AA0D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20;p63">
            <a:extLst>
              <a:ext uri="{FF2B5EF4-FFF2-40B4-BE49-F238E27FC236}">
                <a16:creationId xmlns:a16="http://schemas.microsoft.com/office/drawing/2014/main" id="{D4B5927C-289F-3365-2B73-98ACE76BB79C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dirty="0"/>
              <a:t>0</a:t>
            </a:r>
            <a:r>
              <a:rPr lang="en-US" dirty="0"/>
              <a:t>6</a:t>
            </a:r>
            <a:endParaRPr lang="en" dirty="0"/>
          </a:p>
        </p:txBody>
      </p:sp>
      <p:sp>
        <p:nvSpPr>
          <p:cNvPr id="3" name="Google Shape;535;p63">
            <a:extLst>
              <a:ext uri="{FF2B5EF4-FFF2-40B4-BE49-F238E27FC236}">
                <a16:creationId xmlns:a16="http://schemas.microsoft.com/office/drawing/2014/main" id="{8EE463AD-98CA-6A6F-097C-2AB33C85194E}"/>
              </a:ext>
            </a:extLst>
          </p:cNvPr>
          <p:cNvSpPr txBox="1">
            <a:spLocks/>
          </p:cNvSpPr>
          <p:nvPr/>
        </p:nvSpPr>
        <p:spPr>
          <a:xfrm>
            <a:off x="-228839" y="299545"/>
            <a:ext cx="960177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Метрики оценки качества сегментирования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1D508F-C107-73EC-89F3-EB15B1770BB7}"/>
                  </a:ext>
                </a:extLst>
              </p:cNvPr>
              <p:cNvSpPr txBox="1"/>
              <p:nvPr/>
            </p:nvSpPr>
            <p:spPr>
              <a:xfrm>
                <a:off x="239486" y="2020414"/>
                <a:ext cx="8665028" cy="2157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ru-RU" sz="1600" dirty="0">
                    <a:solidFill>
                      <a:schemeClr val="tx1"/>
                    </a:solidFill>
                    <a:latin typeface="Montserrat" panose="00000500000000000000" pitchFamily="2" charset="-52"/>
                  </a:rPr>
                  <a:t>• верно-положительные (TP)		верно-отрицательные (TN)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ru-RU" sz="1600" dirty="0">
                    <a:solidFill>
                      <a:schemeClr val="tx1"/>
                    </a:solidFill>
                    <a:latin typeface="Montserrat" panose="00000500000000000000" pitchFamily="2" charset="-52"/>
                  </a:rPr>
                  <a:t>• ложно-положительные (FP)		ложно-отрицательный (FN)</a:t>
                </a:r>
              </a:p>
              <a:p>
                <a:pPr marL="457200" lvl="1" indent="0">
                  <a:buNone/>
                </a:pPr>
                <a:endParaRPr lang="ru-RU" sz="1600" dirty="0">
                  <a:solidFill>
                    <a:schemeClr val="tx1"/>
                  </a:solidFill>
                  <a:latin typeface="Montserrat" panose="00000500000000000000" pitchFamily="2" charset="-52"/>
                </a:endParaRPr>
              </a:p>
              <a:p>
                <a:pPr marL="457200" lvl="1" indent="0">
                  <a:buNone/>
                </a:pPr>
                <a:r>
                  <a:rPr lang="en-US" sz="1600" dirty="0">
                    <a:solidFill>
                      <a:schemeClr val="tx1"/>
                    </a:solidFill>
                    <a:latin typeface="Montserrat" panose="00000500000000000000" pitchFamily="2" charset="-52"/>
                  </a:rPr>
                  <a:t>Accuracy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Montserrat" panose="00000500000000000000" pitchFamily="2" charset="-52"/>
                  </a:rPr>
                  <a:t>		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Montserrat" panose="00000500000000000000" pitchFamily="2" charset="-52"/>
                  </a:rPr>
                  <a:t>	</a:t>
                </a:r>
              </a:p>
              <a:p>
                <a:pPr marL="457200" lvl="1" indent="0">
                  <a:buNone/>
                </a:pPr>
                <a:endParaRPr lang="en-US" sz="1600" dirty="0">
                  <a:solidFill>
                    <a:schemeClr val="tx1"/>
                  </a:solidFill>
                  <a:latin typeface="Montserrat" panose="00000500000000000000" pitchFamily="2" charset="-52"/>
                </a:endParaRPr>
              </a:p>
              <a:p>
                <a:pPr marL="457200" lvl="1"/>
                <a:r>
                  <a:rPr lang="en-US" sz="1600" dirty="0">
                    <a:solidFill>
                      <a:schemeClr val="tx1"/>
                    </a:solidFill>
                    <a:latin typeface="Montserrat" panose="00000500000000000000" pitchFamily="2" charset="-52"/>
                  </a:rPr>
                  <a:t>Recall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Montserrat" panose="00000500000000000000" pitchFamily="2" charset="-52"/>
                  </a:rPr>
                  <a:t>			F-score</a:t>
                </a:r>
                <a:r>
                  <a:rPr lang="ru-RU" sz="1600" dirty="0">
                    <a:solidFill>
                      <a:schemeClr val="tx1"/>
                    </a:solidFill>
                    <a:latin typeface="Montserrat" panose="00000500000000000000" pitchFamily="2" charset="-5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f>
                          <m:f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𝑝𝑟𝑒𝑐𝑖𝑠𝑖𝑜𝑛</m:t>
                            </m:r>
                          </m:den>
                        </m:f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 +</m:t>
                        </m:r>
                        <m:f>
                          <m:f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𝑒𝑐𝑎𝑙𝑙</m:t>
                            </m:r>
                          </m:den>
                        </m:f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</m:e>
                            </m:d>
                          </m:num>
                          <m:den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1D508F-C107-73EC-89F3-EB15B1770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86" y="2020414"/>
                <a:ext cx="8665028" cy="2157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376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D6935D17-FC59-8286-AF39-AF516A747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20;p63">
            <a:extLst>
              <a:ext uri="{FF2B5EF4-FFF2-40B4-BE49-F238E27FC236}">
                <a16:creationId xmlns:a16="http://schemas.microsoft.com/office/drawing/2014/main" id="{F3A22CDF-C2E7-7B38-661B-1D082FDBFE21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dirty="0"/>
              <a:t>0</a:t>
            </a:r>
            <a:r>
              <a:rPr lang="ru-RU" dirty="0"/>
              <a:t>7</a:t>
            </a:r>
            <a:endParaRPr lang="en" dirty="0"/>
          </a:p>
        </p:txBody>
      </p:sp>
      <p:sp>
        <p:nvSpPr>
          <p:cNvPr id="3" name="Google Shape;535;p63">
            <a:extLst>
              <a:ext uri="{FF2B5EF4-FFF2-40B4-BE49-F238E27FC236}">
                <a16:creationId xmlns:a16="http://schemas.microsoft.com/office/drawing/2014/main" id="{8339CF41-DCC1-8532-E74E-52CC45943961}"/>
              </a:ext>
            </a:extLst>
          </p:cNvPr>
          <p:cNvSpPr txBox="1">
            <a:spLocks/>
          </p:cNvSpPr>
          <p:nvPr/>
        </p:nvSpPr>
        <p:spPr>
          <a:xfrm>
            <a:off x="-228839" y="299545"/>
            <a:ext cx="960177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Распараллеливание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EEEFF-9D99-0000-C6D9-2343B56BBEE4}"/>
              </a:ext>
            </a:extLst>
          </p:cNvPr>
          <p:cNvSpPr txBox="1"/>
          <p:nvPr/>
        </p:nvSpPr>
        <p:spPr>
          <a:xfrm>
            <a:off x="-228839" y="1111457"/>
            <a:ext cx="8665028" cy="3330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-52"/>
              </a:rPr>
              <a:t>NumPy:</a:t>
            </a:r>
            <a:br>
              <a:rPr lang="en-US" sz="1600" dirty="0">
                <a:solidFill>
                  <a:schemeClr val="tx1"/>
                </a:solidFill>
                <a:latin typeface="Montserrat" panose="00000500000000000000" pitchFamily="2" charset="-52"/>
              </a:rPr>
            </a:br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-52"/>
              </a:rPr>
              <a:t>    </a:t>
            </a:r>
            <a: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  <a:t>Автоматическое, неэффективное в контексте нашей задачи</a:t>
            </a:r>
            <a:endParaRPr lang="en-US" sz="1600" dirty="0">
              <a:solidFill>
                <a:schemeClr val="tx1"/>
              </a:solidFill>
              <a:latin typeface="Montserrat" panose="00000500000000000000" pitchFamily="2" charset="-52"/>
            </a:endParaRP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-52"/>
              </a:rPr>
              <a:t>Joblib</a:t>
            </a:r>
            <a: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  <a:t>:</a:t>
            </a:r>
            <a:b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</a:br>
            <a: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  <a:t>    Отдельная библиотека, распараллеливание цикла </a:t>
            </a:r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-52"/>
              </a:rPr>
              <a:t>for</a:t>
            </a:r>
            <a:b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</a:br>
            <a:b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</a:br>
            <a:endParaRPr lang="en-US" sz="1600" dirty="0">
              <a:solidFill>
                <a:schemeClr val="tx1"/>
              </a:solidFill>
              <a:latin typeface="Montserrat" panose="00000500000000000000" pitchFamily="2" charset="-52"/>
            </a:endParaRP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-52"/>
              </a:rPr>
              <a:t>Sklearn</a:t>
            </a:r>
            <a: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  <a:t>:</a:t>
            </a:r>
            <a:b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</a:br>
            <a: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  <a:t>    Гипер-параметр </a:t>
            </a:r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-52"/>
              </a:rPr>
              <a:t>n_jobs </a:t>
            </a:r>
            <a:r>
              <a:rPr lang="ru-RU" sz="1600" dirty="0">
                <a:solidFill>
                  <a:schemeClr val="tx1"/>
                </a:solidFill>
                <a:latin typeface="Montserrat" panose="00000500000000000000" pitchFamily="2" charset="-52"/>
              </a:rPr>
              <a:t>при инициализации метода</a:t>
            </a:r>
            <a:endParaRPr lang="en-US" sz="1600" dirty="0">
              <a:solidFill>
                <a:schemeClr val="tx1"/>
              </a:solidFill>
              <a:latin typeface="Montserrat" panose="00000500000000000000" pitchFamily="2" charset="-52"/>
            </a:endParaRPr>
          </a:p>
          <a:p>
            <a:pPr marL="800100" lvl="1" indent="-342900">
              <a:lnSpc>
                <a:spcPct val="150000"/>
              </a:lnSpc>
              <a:buAutoNum type="arabicParenR"/>
            </a:pP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32CB8-0801-16D4-23FE-3458F242C66C}"/>
              </a:ext>
            </a:extLst>
          </p:cNvPr>
          <p:cNvSpPr txBox="1"/>
          <p:nvPr/>
        </p:nvSpPr>
        <p:spPr>
          <a:xfrm>
            <a:off x="800100" y="2699616"/>
            <a:ext cx="8088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features = </a:t>
            </a:r>
            <a:r>
              <a:rPr lang="en-US" sz="1400" b="0" i="0" u="none" strike="noStrike" baseline="0" dirty="0">
                <a:solidFill>
                  <a:srgbClr val="538DD3"/>
                </a:solidFill>
                <a:latin typeface="Consolas" panose="020B0609020204030204" pitchFamily="49" charset="0"/>
              </a:rPr>
              <a:t>Parallel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b="0" i="0" u="none" strike="noStrike" baseline="0" dirty="0">
                <a:solidFill>
                  <a:srgbClr val="E6AE00"/>
                </a:solidFill>
                <a:latin typeface="Consolas" panose="020B0609020204030204" pitchFamily="49" charset="0"/>
              </a:rPr>
              <a:t>n_jobs=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-1)(</a:t>
            </a:r>
            <a:r>
              <a:rPr lang="en-US" sz="1400" b="0" i="0" u="none" strike="noStrike" baseline="0" dirty="0">
                <a:solidFill>
                  <a:srgbClr val="538DD3"/>
                </a:solidFill>
                <a:latin typeface="Consolas" panose="020B0609020204030204" pitchFamily="49" charset="0"/>
              </a:rPr>
              <a:t>delayed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(compute_features_for_point)(i, points, indices) </a:t>
            </a:r>
            <a:r>
              <a:rPr lang="en-US" sz="1400" b="0" i="0" u="none" strike="noStrike" baseline="0" dirty="0">
                <a:solidFill>
                  <a:srgbClr val="6F2F9F"/>
                </a:solidFill>
                <a:latin typeface="Consolas" panose="020B0609020204030204" pitchFamily="49" charset="0"/>
              </a:rPr>
              <a:t>for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i </a:t>
            </a:r>
            <a:r>
              <a:rPr lang="en-US" sz="1400" b="0" i="0" u="none" strike="noStrike" baseline="0" dirty="0">
                <a:solidFill>
                  <a:srgbClr val="6F2F9F"/>
                </a:solidFill>
                <a:latin typeface="Consolas" panose="020B0609020204030204" pitchFamily="49" charset="0"/>
              </a:rPr>
              <a:t>in </a:t>
            </a:r>
            <a:r>
              <a:rPr lang="en-US" sz="1400" b="0" i="0" u="none" strike="noStrike" baseline="0" dirty="0">
                <a:solidFill>
                  <a:srgbClr val="538DD3"/>
                </a:solidFill>
                <a:latin typeface="Consolas" panose="020B0609020204030204" pitchFamily="49" charset="0"/>
              </a:rPr>
              <a:t>range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b="0" i="0" u="none" strike="noStrike" baseline="0" dirty="0">
                <a:solidFill>
                  <a:srgbClr val="538DD3"/>
                </a:solidFill>
                <a:latin typeface="Consolas" panose="020B0609020204030204" pitchFamily="49" charset="0"/>
              </a:rPr>
              <a:t>len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(points)))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9098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416974-FA68-3E9B-D636-1D93D71CC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3" y="1288887"/>
            <a:ext cx="8119873" cy="3444048"/>
          </a:xfrm>
        </p:spPr>
        <p:txBody>
          <a:bodyPr/>
          <a:lstStyle/>
          <a:p>
            <a:pPr algn="l"/>
            <a:r>
              <a:rPr lang="ru-RU" sz="1600" b="1" dirty="0"/>
              <a:t>Временные эксперименты</a:t>
            </a:r>
            <a:r>
              <a:rPr lang="ru-RU" sz="1600" dirty="0"/>
              <a:t> – </a:t>
            </a:r>
          </a:p>
          <a:p>
            <a:pPr algn="l"/>
            <a:r>
              <a:rPr lang="ru-RU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12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Montserrat" panose="00000500000000000000" pitchFamily="2" charset="-52"/>
              </a:rPr>
              <a:t>th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 Gen Intel(R) Core (TM) i5-1240P 1.70 GHz</a:t>
            </a:r>
            <a:r>
              <a:rPr lang="ru-RU" sz="1600" dirty="0">
                <a:solidFill>
                  <a:srgbClr val="000000"/>
                </a:solidFill>
                <a:latin typeface="Montserrat" panose="00000500000000000000" pitchFamily="2" charset="-52"/>
              </a:rPr>
              <a:t>:</a:t>
            </a:r>
            <a:br>
              <a:rPr lang="ru-RU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</a:br>
            <a:r>
              <a:rPr lang="ru-RU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4 высокопроизводительных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 </a:t>
            </a:r>
            <a:r>
              <a:rPr lang="ru-RU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и 8 энергоэффективных ядер, 16 потоков</a:t>
            </a:r>
            <a:endParaRPr lang="ru-RU" sz="1600" dirty="0"/>
          </a:p>
          <a:p>
            <a:pPr algn="l"/>
            <a:br>
              <a:rPr lang="ru-RU" sz="1600" dirty="0"/>
            </a:br>
            <a:endParaRPr lang="ru-RU" sz="1600" dirty="0"/>
          </a:p>
          <a:p>
            <a:pPr algn="l"/>
            <a:r>
              <a:rPr lang="ru-RU" sz="1600" b="1" dirty="0"/>
              <a:t>Качественные эксперименты</a:t>
            </a:r>
            <a:r>
              <a:rPr lang="ru-RU" sz="1600" dirty="0"/>
              <a:t> –</a:t>
            </a:r>
          </a:p>
          <a:p>
            <a:pPr algn="l"/>
            <a:r>
              <a:rPr lang="ru-RU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Intel Xeon Platinum 8168:</a:t>
            </a:r>
            <a:br>
              <a:rPr lang="ru-RU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</a:br>
            <a:r>
              <a:rPr lang="ru-RU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48 физических ядер, 96 логических потоков</a:t>
            </a:r>
          </a:p>
          <a:p>
            <a:pPr algn="l"/>
            <a:br>
              <a:rPr lang="ru-RU" sz="1600" dirty="0">
                <a:solidFill>
                  <a:srgbClr val="000000"/>
                </a:solidFill>
                <a:latin typeface="Montserrat" panose="00000500000000000000" pitchFamily="2" charset="-52"/>
              </a:rPr>
            </a:br>
            <a:endParaRPr lang="ru-RU" sz="1600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algn="l"/>
            <a:r>
              <a:rPr lang="ru-RU" sz="1600" b="1" dirty="0">
                <a:solidFill>
                  <a:srgbClr val="000000"/>
                </a:solidFill>
                <a:latin typeface="Montserrat" panose="00000500000000000000" pitchFamily="2" charset="-52"/>
              </a:rPr>
              <a:t>Версии библиотек </a:t>
            </a:r>
            <a:r>
              <a:rPr lang="ru-RU" sz="1600" dirty="0">
                <a:solidFill>
                  <a:srgbClr val="000000"/>
                </a:solidFill>
                <a:latin typeface="Montserrat" panose="00000500000000000000" pitchFamily="2" charset="-52"/>
              </a:rPr>
              <a:t>–</a:t>
            </a:r>
            <a:endParaRPr lang="ru-RU" sz="1600" b="1" dirty="0"/>
          </a:p>
          <a:p>
            <a:pPr algn="l"/>
            <a:r>
              <a:rPr lang="en-US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Python: 3.12.9 </a:t>
            </a:r>
            <a:r>
              <a:rPr lang="ru-RU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  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NumPy: 2.2.2 </a:t>
            </a:r>
            <a:r>
              <a:rPr lang="ru-RU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   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Joblib: 1.4.2 </a:t>
            </a:r>
            <a:r>
              <a:rPr lang="ru-RU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  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Montserrat" panose="00000500000000000000" pitchFamily="2" charset="-52"/>
              </a:rPr>
              <a:t>Sklearn: 1.4.1 </a:t>
            </a:r>
            <a:endParaRPr lang="ru-RU" sz="1600" dirty="0">
              <a:latin typeface="Montserrat" panose="00000500000000000000" pitchFamily="2" charset="-52"/>
            </a:endParaRPr>
          </a:p>
          <a:p>
            <a:pPr algn="l"/>
            <a:endParaRPr lang="ru-RU" sz="1600" dirty="0"/>
          </a:p>
        </p:txBody>
      </p:sp>
      <p:sp>
        <p:nvSpPr>
          <p:cNvPr id="4" name="Google Shape;535;p63">
            <a:extLst>
              <a:ext uri="{FF2B5EF4-FFF2-40B4-BE49-F238E27FC236}">
                <a16:creationId xmlns:a16="http://schemas.microsoft.com/office/drawing/2014/main" id="{2131D2F7-3774-48F1-F40D-42EAA8382999}"/>
              </a:ext>
            </a:extLst>
          </p:cNvPr>
          <p:cNvSpPr txBox="1">
            <a:spLocks/>
          </p:cNvSpPr>
          <p:nvPr/>
        </p:nvSpPr>
        <p:spPr>
          <a:xfrm>
            <a:off x="-228839" y="299545"/>
            <a:ext cx="960177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Условия вычислений</a:t>
            </a:r>
          </a:p>
        </p:txBody>
      </p:sp>
      <p:sp>
        <p:nvSpPr>
          <p:cNvPr id="2" name="Google Shape;520;p63">
            <a:extLst>
              <a:ext uri="{FF2B5EF4-FFF2-40B4-BE49-F238E27FC236}">
                <a16:creationId xmlns:a16="http://schemas.microsoft.com/office/drawing/2014/main" id="{D5256CF5-FF4C-D9CA-B185-D5C85AB4D028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dirty="0"/>
              <a:t>0</a:t>
            </a:r>
            <a:r>
              <a:rPr lang="ru-RU" dirty="0"/>
              <a:t>8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926115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F8233459-5D2D-D2EE-8AE9-9119622B4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20;p63">
            <a:extLst>
              <a:ext uri="{FF2B5EF4-FFF2-40B4-BE49-F238E27FC236}">
                <a16:creationId xmlns:a16="http://schemas.microsoft.com/office/drawing/2014/main" id="{8DA9704F-0499-C086-0D38-E84F47B5E938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dirty="0"/>
              <a:t>0</a:t>
            </a:r>
            <a:r>
              <a:rPr lang="ru-RU" dirty="0"/>
              <a:t>9</a:t>
            </a:r>
            <a:endParaRPr lang="en" dirty="0"/>
          </a:p>
        </p:txBody>
      </p:sp>
      <p:sp>
        <p:nvSpPr>
          <p:cNvPr id="3" name="Google Shape;535;p63">
            <a:extLst>
              <a:ext uri="{FF2B5EF4-FFF2-40B4-BE49-F238E27FC236}">
                <a16:creationId xmlns:a16="http://schemas.microsoft.com/office/drawing/2014/main" id="{CD357A5D-2C62-9E3E-87EF-8D98518C3684}"/>
              </a:ext>
            </a:extLst>
          </p:cNvPr>
          <p:cNvSpPr txBox="1">
            <a:spLocks/>
          </p:cNvSpPr>
          <p:nvPr/>
        </p:nvSpPr>
        <p:spPr>
          <a:xfrm>
            <a:off x="-228839" y="299545"/>
            <a:ext cx="960177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Результаты экспериментов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CF60CA-3ED6-989C-B88B-AC0C7B247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036" y="1017725"/>
            <a:ext cx="5595335" cy="351307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A1BB257-407C-597C-15F4-8CEB89B4C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83" y="1017725"/>
            <a:ext cx="3003659" cy="35130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BED7C4C-DDAB-6E51-10AC-C976D09B5E16}"/>
              </a:ext>
            </a:extLst>
          </p:cNvPr>
          <p:cNvSpPr txBox="1"/>
          <p:nvPr/>
        </p:nvSpPr>
        <p:spPr>
          <a:xfrm>
            <a:off x="150183" y="4463378"/>
            <a:ext cx="31741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latin typeface="Montserrat" panose="00000500000000000000" pitchFamily="2" charset="-52"/>
              </a:rPr>
              <a:t>Зависимость времени выполнения от количества потоков (Joblib). Файл: 9.laz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9F1694-6D0B-30B8-8E00-B993B7B5AE3F}"/>
              </a:ext>
            </a:extLst>
          </p:cNvPr>
          <p:cNvSpPr txBox="1"/>
          <p:nvPr/>
        </p:nvSpPr>
        <p:spPr>
          <a:xfrm>
            <a:off x="3418036" y="4467744"/>
            <a:ext cx="56471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ru-RU" sz="1100" dirty="0">
                <a:solidFill>
                  <a:schemeClr val="tx1"/>
                </a:solidFill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Зависимость метрик качества, полученных на файле 9.laz, от количества базовых моделей в ансамбле</a:t>
            </a:r>
          </a:p>
        </p:txBody>
      </p:sp>
    </p:spTree>
    <p:extLst>
      <p:ext uri="{BB962C8B-B14F-4D97-AF65-F5344CB8AC3E}">
        <p14:creationId xmlns:p14="http://schemas.microsoft.com/office/powerpoint/2010/main" val="1865043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0CEB98A8-141E-D979-FBF7-0A03BD5CC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20;p63">
            <a:extLst>
              <a:ext uri="{FF2B5EF4-FFF2-40B4-BE49-F238E27FC236}">
                <a16:creationId xmlns:a16="http://schemas.microsoft.com/office/drawing/2014/main" id="{6CA57248-7176-FABD-2F47-BF3F5F4DB278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dirty="0"/>
              <a:t>10</a:t>
            </a:r>
            <a:endParaRPr lang="en" dirty="0"/>
          </a:p>
        </p:txBody>
      </p:sp>
      <p:sp>
        <p:nvSpPr>
          <p:cNvPr id="3" name="Google Shape;535;p63">
            <a:extLst>
              <a:ext uri="{FF2B5EF4-FFF2-40B4-BE49-F238E27FC236}">
                <a16:creationId xmlns:a16="http://schemas.microsoft.com/office/drawing/2014/main" id="{E78DB14D-4A1C-F833-4664-62664742EF47}"/>
              </a:ext>
            </a:extLst>
          </p:cNvPr>
          <p:cNvSpPr txBox="1">
            <a:spLocks/>
          </p:cNvSpPr>
          <p:nvPr/>
        </p:nvSpPr>
        <p:spPr>
          <a:xfrm>
            <a:off x="-228839" y="299545"/>
            <a:ext cx="960177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Выводы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D8AF6-4AF3-053B-4B1E-B30A8E10AE3B}"/>
              </a:ext>
            </a:extLst>
          </p:cNvPr>
          <p:cNvSpPr txBox="1"/>
          <p:nvPr/>
        </p:nvSpPr>
        <p:spPr>
          <a:xfrm>
            <a:off x="703612" y="1178811"/>
            <a:ext cx="7736775" cy="333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spcAft>
                <a:spcPts val="1000"/>
              </a:spcAft>
            </a:pPr>
            <a:r>
              <a:rPr lang="ru-RU" sz="1600" b="1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Оптимальные параметры </a:t>
            </a: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– </a:t>
            </a:r>
          </a:p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50 соседей для вычисления ковариационной матрицы признаков</a:t>
            </a:r>
          </a:p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8 соседей для KNN</a:t>
            </a:r>
            <a:endParaRPr lang="ru-RU" sz="1600" dirty="0">
              <a:latin typeface="Montserrat" panose="00000500000000000000" pitchFamily="2" charset="-52"/>
              <a:ea typeface="Calibri" panose="020F0502020204030204" pitchFamily="34" charset="0"/>
            </a:endParaRPr>
          </a:p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latin typeface="Montserrat" panose="00000500000000000000" pitchFamily="2" charset="-52"/>
                <a:ea typeface="Calibri" panose="020F0502020204030204" pitchFamily="34" charset="0"/>
              </a:rPr>
              <a:t>75 деревьев для Случайного Леса.</a:t>
            </a:r>
            <a:endParaRPr lang="ru-RU" sz="1600" dirty="0">
              <a:latin typeface="Montserrat" panose="00000500000000000000" pitchFamily="2" charset="-52"/>
              <a:ea typeface="Calibri" panose="020F0502020204030204" pitchFamily="34" charset="0"/>
            </a:endParaRPr>
          </a:p>
          <a:p>
            <a:pPr algn="just">
              <a:spcAft>
                <a:spcPts val="1000"/>
              </a:spcAft>
            </a:pPr>
            <a:endParaRPr lang="ru-RU" sz="1600" dirty="0">
              <a:effectLst/>
              <a:latin typeface="Montserrat" panose="00000500000000000000" pitchFamily="2" charset="-52"/>
              <a:ea typeface="Calibri" panose="020F0502020204030204" pitchFamily="34" charset="0"/>
            </a:endParaRPr>
          </a:p>
          <a:p>
            <a:pPr indent="457200" algn="just">
              <a:spcAft>
                <a:spcPts val="1000"/>
              </a:spcAft>
            </a:pPr>
            <a:r>
              <a:rPr lang="ru-RU" sz="1600" b="1" dirty="0">
                <a:latin typeface="Montserrat" panose="00000500000000000000" pitchFamily="2" charset="-52"/>
                <a:ea typeface="Calibri" panose="020F0502020204030204" pitchFamily="34" charset="0"/>
              </a:rPr>
              <a:t>Распараллеливание</a:t>
            </a:r>
            <a:r>
              <a:rPr lang="ru-RU" sz="1600" dirty="0">
                <a:latin typeface="Montserrat" panose="00000500000000000000" pitchFamily="2" charset="-52"/>
                <a:ea typeface="Calibri" panose="020F0502020204030204" pitchFamily="34" charset="0"/>
              </a:rPr>
              <a:t> –</a:t>
            </a:r>
          </a:p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-52"/>
                <a:ea typeface="Calibri" panose="020F0502020204030204" pitchFamily="34" charset="0"/>
              </a:rPr>
              <a:t>NumPy </a:t>
            </a:r>
            <a:r>
              <a:rPr lang="ru-RU" sz="1600" dirty="0">
                <a:latin typeface="Montserrat" panose="00000500000000000000" pitchFamily="2" charset="-52"/>
                <a:ea typeface="Calibri" panose="020F0502020204030204" pitchFamily="34" charset="0"/>
              </a:rPr>
              <a:t>неэффективен</a:t>
            </a:r>
          </a:p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-52"/>
                <a:ea typeface="Calibri" panose="020F0502020204030204" pitchFamily="34" charset="0"/>
              </a:rPr>
              <a:t>Joblib</a:t>
            </a:r>
            <a:r>
              <a:rPr lang="ru-RU" sz="1600" dirty="0">
                <a:latin typeface="Montserrat" panose="00000500000000000000" pitchFamily="2" charset="-52"/>
                <a:ea typeface="Calibri" panose="020F0502020204030204" pitchFamily="34" charset="0"/>
              </a:rPr>
              <a:t> </a:t>
            </a:r>
            <a:r>
              <a:rPr lang="en-US" sz="1600" dirty="0">
                <a:latin typeface="Montserrat" panose="00000500000000000000" pitchFamily="2" charset="-52"/>
                <a:ea typeface="Calibri" panose="020F0502020204030204" pitchFamily="34" charset="0"/>
              </a:rPr>
              <a:t>(n_jobs=4)</a:t>
            </a:r>
          </a:p>
          <a:p>
            <a:pPr marL="28575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latin typeface="Montserrat" panose="00000500000000000000" pitchFamily="2" charset="-52"/>
                <a:ea typeface="Calibri" panose="020F0502020204030204" pitchFamily="34" charset="0"/>
              </a:rPr>
              <a:t>SkLearn</a:t>
            </a:r>
            <a:r>
              <a:rPr lang="en-US" sz="1600" dirty="0">
                <a:latin typeface="Montserrat" panose="00000500000000000000" pitchFamily="2" charset="-52"/>
                <a:ea typeface="Calibri" panose="020F0502020204030204" pitchFamily="34" charset="0"/>
              </a:rPr>
              <a:t> </a:t>
            </a:r>
            <a:r>
              <a:rPr lang="ru-RU" sz="1600" dirty="0">
                <a:latin typeface="Montserrat" panose="00000500000000000000" pitchFamily="2" charset="-52"/>
                <a:ea typeface="Calibri" panose="020F0502020204030204" pitchFamily="34" charset="0"/>
              </a:rPr>
              <a:t>(</a:t>
            </a:r>
            <a:r>
              <a:rPr lang="en-US" sz="1600" dirty="0">
                <a:latin typeface="Montserrat" panose="00000500000000000000" pitchFamily="2" charset="-52"/>
                <a:ea typeface="Calibri" panose="020F0502020204030204" pitchFamily="34" charset="0"/>
              </a:rPr>
              <a:t>n_jobs=-1)</a:t>
            </a:r>
            <a:endParaRPr lang="ru-RU" sz="1600" dirty="0">
              <a:latin typeface="Montserrat" panose="00000500000000000000" pitchFamily="2" charset="-52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535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0BD04BB3-B1A1-8935-A5F1-680E06A1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20;p63">
            <a:extLst>
              <a:ext uri="{FF2B5EF4-FFF2-40B4-BE49-F238E27FC236}">
                <a16:creationId xmlns:a16="http://schemas.microsoft.com/office/drawing/2014/main" id="{0A4DAD31-F631-9360-7681-1A98526C9B07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dirty="0"/>
              <a:t>11</a:t>
            </a:r>
            <a:endParaRPr lang="en" dirty="0"/>
          </a:p>
        </p:txBody>
      </p:sp>
      <p:sp>
        <p:nvSpPr>
          <p:cNvPr id="3" name="Google Shape;535;p63">
            <a:extLst>
              <a:ext uri="{FF2B5EF4-FFF2-40B4-BE49-F238E27FC236}">
                <a16:creationId xmlns:a16="http://schemas.microsoft.com/office/drawing/2014/main" id="{56BAEC49-98FD-44EA-3120-1FDBD5379C2D}"/>
              </a:ext>
            </a:extLst>
          </p:cNvPr>
          <p:cNvSpPr txBox="1">
            <a:spLocks/>
          </p:cNvSpPr>
          <p:nvPr/>
        </p:nvSpPr>
        <p:spPr>
          <a:xfrm>
            <a:off x="-228839" y="299545"/>
            <a:ext cx="960177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Результаты экспериментов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642832-EABC-3C19-CE55-2E08379B1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89" y="990996"/>
            <a:ext cx="6870023" cy="3487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A72DED-0130-9676-C587-4E7EDA88698D}"/>
              </a:ext>
            </a:extLst>
          </p:cNvPr>
          <p:cNvSpPr txBox="1"/>
          <p:nvPr/>
        </p:nvSpPr>
        <p:spPr>
          <a:xfrm>
            <a:off x="-576073" y="4468060"/>
            <a:ext cx="102961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ru-RU" sz="1400" dirty="0">
                <a:effectLst/>
                <a:latin typeface="Montserrat" panose="00000500000000000000" pitchFamily="2" charset="-52"/>
              </a:rPr>
              <a:t>Результаты метрик качества и времени алгоритмов на файле </a:t>
            </a:r>
            <a:r>
              <a:rPr lang="en-US" sz="1400" dirty="0">
                <a:effectLst/>
                <a:latin typeface="Montserrat" panose="00000500000000000000" pitchFamily="2" charset="-52"/>
              </a:rPr>
              <a:t>9.laz</a:t>
            </a:r>
            <a:r>
              <a:rPr lang="ru-RU" sz="1400" dirty="0">
                <a:effectLst/>
                <a:latin typeface="Montserrat" panose="00000500000000000000" pitchFamily="2" charset="-52"/>
              </a:rPr>
              <a:t> из датасета</a:t>
            </a:r>
            <a:endParaRPr lang="ru-RU" sz="1050" i="1" dirty="0">
              <a:solidFill>
                <a:srgbClr val="1F497D"/>
              </a:solidFill>
              <a:effectLst/>
              <a:latin typeface="Montserrat" panose="00000500000000000000" pitchFamily="2" charset="-52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689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6D20FC9E-0DF4-045B-5349-9E4AC6ADF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20;p63">
            <a:extLst>
              <a:ext uri="{FF2B5EF4-FFF2-40B4-BE49-F238E27FC236}">
                <a16:creationId xmlns:a16="http://schemas.microsoft.com/office/drawing/2014/main" id="{DDBD1E3B-0DF5-3D6D-267D-B0D9D2F8467D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dirty="0"/>
              <a:t>12</a:t>
            </a:r>
            <a:endParaRPr lang="en" dirty="0"/>
          </a:p>
        </p:txBody>
      </p:sp>
      <p:sp>
        <p:nvSpPr>
          <p:cNvPr id="3" name="Google Shape;535;p63">
            <a:extLst>
              <a:ext uri="{FF2B5EF4-FFF2-40B4-BE49-F238E27FC236}">
                <a16:creationId xmlns:a16="http://schemas.microsoft.com/office/drawing/2014/main" id="{3D24423B-0BB2-E5AD-A497-FE80A297478D}"/>
              </a:ext>
            </a:extLst>
          </p:cNvPr>
          <p:cNvSpPr txBox="1">
            <a:spLocks/>
          </p:cNvSpPr>
          <p:nvPr/>
        </p:nvSpPr>
        <p:spPr>
          <a:xfrm>
            <a:off x="-228839" y="299545"/>
            <a:ext cx="960177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Результаты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97B6F88-43BB-B1EB-1749-091C04231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068204"/>
              </p:ext>
            </p:extLst>
          </p:nvPr>
        </p:nvGraphicFramePr>
        <p:xfrm>
          <a:off x="984900" y="1177821"/>
          <a:ext cx="7174200" cy="31392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95700">
                  <a:extLst>
                    <a:ext uri="{9D8B030D-6E8A-4147-A177-3AD203B41FA5}">
                      <a16:colId xmlns:a16="http://schemas.microsoft.com/office/drawing/2014/main" val="4026831146"/>
                    </a:ext>
                  </a:extLst>
                </a:gridCol>
                <a:gridCol w="1195700">
                  <a:extLst>
                    <a:ext uri="{9D8B030D-6E8A-4147-A177-3AD203B41FA5}">
                      <a16:colId xmlns:a16="http://schemas.microsoft.com/office/drawing/2014/main" val="3018194054"/>
                    </a:ext>
                  </a:extLst>
                </a:gridCol>
                <a:gridCol w="1195700">
                  <a:extLst>
                    <a:ext uri="{9D8B030D-6E8A-4147-A177-3AD203B41FA5}">
                      <a16:colId xmlns:a16="http://schemas.microsoft.com/office/drawing/2014/main" val="3823969224"/>
                    </a:ext>
                  </a:extLst>
                </a:gridCol>
                <a:gridCol w="1195700">
                  <a:extLst>
                    <a:ext uri="{9D8B030D-6E8A-4147-A177-3AD203B41FA5}">
                      <a16:colId xmlns:a16="http://schemas.microsoft.com/office/drawing/2014/main" val="2917109942"/>
                    </a:ext>
                  </a:extLst>
                </a:gridCol>
                <a:gridCol w="1195700">
                  <a:extLst>
                    <a:ext uri="{9D8B030D-6E8A-4147-A177-3AD203B41FA5}">
                      <a16:colId xmlns:a16="http://schemas.microsoft.com/office/drawing/2014/main" val="685646805"/>
                    </a:ext>
                  </a:extLst>
                </a:gridCol>
                <a:gridCol w="1195700">
                  <a:extLst>
                    <a:ext uri="{9D8B030D-6E8A-4147-A177-3AD203B41FA5}">
                      <a16:colId xmlns:a16="http://schemas.microsoft.com/office/drawing/2014/main" val="3388845414"/>
                    </a:ext>
                  </a:extLst>
                </a:gridCol>
              </a:tblGrid>
              <a:tr h="285382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Файлы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Точность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Время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329154"/>
                  </a:ext>
                </a:extLst>
              </a:tr>
              <a:tr h="28538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Precision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Recall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F1-score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Обучения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Предсказания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extLst>
                  <a:ext uri="{0D108BD9-81ED-4DB2-BD59-A6C34878D82A}">
                    <a16:rowId xmlns:a16="http://schemas.microsoft.com/office/drawing/2014/main" val="3527828937"/>
                  </a:ext>
                </a:extLst>
              </a:tr>
              <a:tr h="2853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1.laz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0.9825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0.9823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103.8032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0.4371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extLst>
                  <a:ext uri="{0D108BD9-81ED-4DB2-BD59-A6C34878D82A}">
                    <a16:rowId xmlns:a16="http://schemas.microsoft.com/office/drawing/2014/main" val="3405406534"/>
                  </a:ext>
                </a:extLst>
              </a:tr>
              <a:tr h="2853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2.laz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0.9802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0.9806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0.9804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180.9451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5.0195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extLst>
                  <a:ext uri="{0D108BD9-81ED-4DB2-BD59-A6C34878D82A}">
                    <a16:rowId xmlns:a16="http://schemas.microsoft.com/office/drawing/2014/main" val="1019639209"/>
                  </a:ext>
                </a:extLst>
              </a:tr>
              <a:tr h="2853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3.laz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0.9872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0.987</a:t>
                      </a:r>
                      <a:r>
                        <a:rPr lang="ru-RU" sz="1200" dirty="0">
                          <a:effectLst/>
                        </a:rPr>
                        <a:t>3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0.9872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36.6573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0.1253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extLst>
                  <a:ext uri="{0D108BD9-81ED-4DB2-BD59-A6C34878D82A}">
                    <a16:rowId xmlns:a16="http://schemas.microsoft.com/office/drawing/2014/main" val="1184124226"/>
                  </a:ext>
                </a:extLst>
              </a:tr>
              <a:tr h="2853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4.laz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0.9773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0.9775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0.9774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23.5695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0.0847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extLst>
                  <a:ext uri="{0D108BD9-81ED-4DB2-BD59-A6C34878D82A}">
                    <a16:rowId xmlns:a16="http://schemas.microsoft.com/office/drawing/2014/main" val="4052022981"/>
                  </a:ext>
                </a:extLst>
              </a:tr>
              <a:tr h="2853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5.laz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0.9878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0.9881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0.9879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146.4735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  <a:tabLst>
                          <a:tab pos="561340" algn="l"/>
                          <a:tab pos="713105" algn="ctr"/>
                        </a:tabLst>
                      </a:pPr>
                      <a:r>
                        <a:rPr lang="ru-RU" sz="1200" dirty="0">
                          <a:effectLst/>
                        </a:rPr>
                        <a:t>0.4414 сек.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extLst>
                  <a:ext uri="{0D108BD9-81ED-4DB2-BD59-A6C34878D82A}">
                    <a16:rowId xmlns:a16="http://schemas.microsoft.com/office/drawing/2014/main" val="3183614643"/>
                  </a:ext>
                </a:extLst>
              </a:tr>
              <a:tr h="2853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6.laz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0.9868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0.9870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0.9869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50.6510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0.1826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extLst>
                  <a:ext uri="{0D108BD9-81ED-4DB2-BD59-A6C34878D82A}">
                    <a16:rowId xmlns:a16="http://schemas.microsoft.com/office/drawing/2014/main" val="1378757416"/>
                  </a:ext>
                </a:extLst>
              </a:tr>
              <a:tr h="2853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7.laz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  <a:tabLst>
                          <a:tab pos="600075" algn="ctr"/>
                        </a:tabLst>
                      </a:pPr>
                      <a:r>
                        <a:rPr lang="ru-RU" sz="1200">
                          <a:effectLst/>
                        </a:rPr>
                        <a:t>0.9866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  <a:tabLst>
                          <a:tab pos="600075" algn="ctr"/>
                        </a:tabLst>
                      </a:pPr>
                      <a:r>
                        <a:rPr lang="ru-RU" sz="1200">
                          <a:effectLst/>
                        </a:rPr>
                        <a:t>0.9868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  <a:tabLst>
                          <a:tab pos="600075" algn="ctr"/>
                        </a:tabLst>
                      </a:pPr>
                      <a:r>
                        <a:rPr lang="ru-RU" sz="1200">
                          <a:effectLst/>
                        </a:rPr>
                        <a:t>0.9867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  <a:tabLst>
                          <a:tab pos="600075" algn="ctr"/>
                        </a:tabLst>
                      </a:pPr>
                      <a:r>
                        <a:rPr lang="ru-RU" sz="1200">
                          <a:effectLst/>
                        </a:rPr>
                        <a:t>14.9511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  <a:tabLst>
                          <a:tab pos="600075" algn="ctr"/>
                        </a:tabLst>
                      </a:pPr>
                      <a:r>
                        <a:rPr lang="ru-RU" sz="1200">
                          <a:effectLst/>
                        </a:rPr>
                        <a:t>0.0543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extLst>
                  <a:ext uri="{0D108BD9-81ED-4DB2-BD59-A6C34878D82A}">
                    <a16:rowId xmlns:a16="http://schemas.microsoft.com/office/drawing/2014/main" val="3343845346"/>
                  </a:ext>
                </a:extLst>
              </a:tr>
              <a:tr h="2853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8.laz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0.9900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0.9899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0.9900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87.4916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0.2618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extLst>
                  <a:ext uri="{0D108BD9-81ED-4DB2-BD59-A6C34878D82A}">
                    <a16:rowId xmlns:a16="http://schemas.microsoft.com/office/drawing/2014/main" val="4100060938"/>
                  </a:ext>
                </a:extLst>
              </a:tr>
              <a:tr h="2853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9.laz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0.9868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0.9867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0.9867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4.7439 сек.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 dirty="0">
                          <a:effectLst/>
                        </a:rPr>
                        <a:t>0.0186сек.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93" marR="35393" marT="0" marB="0"/>
                </a:tc>
                <a:extLst>
                  <a:ext uri="{0D108BD9-81ED-4DB2-BD59-A6C34878D82A}">
                    <a16:rowId xmlns:a16="http://schemas.microsoft.com/office/drawing/2014/main" val="28636359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1976B0-46E6-FE5A-4711-DD3AD5EE109F}"/>
              </a:ext>
            </a:extLst>
          </p:cNvPr>
          <p:cNvSpPr txBox="1"/>
          <p:nvPr/>
        </p:nvSpPr>
        <p:spPr>
          <a:xfrm>
            <a:off x="112826" y="4422160"/>
            <a:ext cx="89005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ru-RU" sz="1400" dirty="0">
                <a:effectLst/>
                <a:latin typeface="Montserrat" panose="00000500000000000000" pitchFamily="2" charset="-52"/>
              </a:rPr>
              <a:t>Результаты метрик качества и времени алгоритма Решающее Дерево на файлах в датасете</a:t>
            </a:r>
            <a:endParaRPr lang="ru-RU" sz="1050" i="1" dirty="0">
              <a:solidFill>
                <a:srgbClr val="1F497D"/>
              </a:solidFill>
              <a:effectLst/>
              <a:latin typeface="Montserrat" panose="00000500000000000000" pitchFamily="2" charset="-52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4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A8E99126-F57B-0A99-CFB8-92F5EEDC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20;p63">
            <a:extLst>
              <a:ext uri="{FF2B5EF4-FFF2-40B4-BE49-F238E27FC236}">
                <a16:creationId xmlns:a16="http://schemas.microsoft.com/office/drawing/2014/main" id="{34FE3DE9-ACD2-8C03-8702-95399281DB0B}"/>
              </a:ext>
            </a:extLst>
          </p:cNvPr>
          <p:cNvSpPr txBox="1">
            <a:spLocks/>
          </p:cNvSpPr>
          <p:nvPr/>
        </p:nvSpPr>
        <p:spPr>
          <a:xfrm>
            <a:off x="8761525" y="4835074"/>
            <a:ext cx="503692" cy="355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dirty="0"/>
              <a:t>13</a:t>
            </a:r>
            <a:endParaRPr lang="en" dirty="0"/>
          </a:p>
        </p:txBody>
      </p:sp>
      <p:sp>
        <p:nvSpPr>
          <p:cNvPr id="3" name="Google Shape;535;p63">
            <a:extLst>
              <a:ext uri="{FF2B5EF4-FFF2-40B4-BE49-F238E27FC236}">
                <a16:creationId xmlns:a16="http://schemas.microsoft.com/office/drawing/2014/main" id="{32F1D4A4-1A6D-02D5-D770-FAC6A3B0BD33}"/>
              </a:ext>
            </a:extLst>
          </p:cNvPr>
          <p:cNvSpPr txBox="1">
            <a:spLocks/>
          </p:cNvSpPr>
          <p:nvPr/>
        </p:nvSpPr>
        <p:spPr>
          <a:xfrm>
            <a:off x="-228839" y="299545"/>
            <a:ext cx="9601778" cy="718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4000" dirty="0">
                <a:latin typeface="Montserrat" panose="00000500000000000000" pitchFamily="2" charset="-52"/>
              </a:rPr>
              <a:t>Основные результаты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161C1-603B-E489-DFEE-5410F47EE3DD}"/>
              </a:ext>
            </a:extLst>
          </p:cNvPr>
          <p:cNvSpPr txBox="1"/>
          <p:nvPr/>
        </p:nvSpPr>
        <p:spPr>
          <a:xfrm>
            <a:off x="206829" y="1371116"/>
            <a:ext cx="867694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spcAft>
                <a:spcPts val="1000"/>
              </a:spcAft>
            </a:pPr>
            <a:r>
              <a:rPr lang="ru-RU" sz="1600" b="1" dirty="0">
                <a:latin typeface="Montserrat" panose="00000500000000000000" pitchFamily="2" charset="-52"/>
                <a:ea typeface="Calibri" panose="020F0502020204030204" pitchFamily="34" charset="0"/>
              </a:rPr>
              <a:t>1</a:t>
            </a:r>
            <a:r>
              <a:rPr lang="en-US" sz="1600" b="1" dirty="0">
                <a:latin typeface="Montserrat" panose="00000500000000000000" pitchFamily="2" charset="-52"/>
                <a:ea typeface="Calibri" panose="020F0502020204030204" pitchFamily="34" charset="0"/>
              </a:rPr>
              <a:t>. </a:t>
            </a:r>
            <a:r>
              <a:rPr lang="ru-RU" sz="1600" b="1" dirty="0">
                <a:latin typeface="Montserrat" panose="00000500000000000000" pitchFamily="2" charset="-52"/>
                <a:ea typeface="Calibri" panose="020F0502020204030204" pitchFamily="34" charset="0"/>
              </a:rPr>
              <a:t>Распараллеливание вычислений</a:t>
            </a:r>
          </a:p>
          <a:p>
            <a:pPr indent="457200" algn="just">
              <a:spcAft>
                <a:spcPts val="1000"/>
              </a:spcAft>
            </a:pPr>
            <a:r>
              <a:rPr lang="ru-RU" sz="1600" dirty="0">
                <a:latin typeface="Montserrat" panose="00000500000000000000" pitchFamily="2" charset="-52"/>
                <a:ea typeface="Calibri" panose="020F0502020204030204" pitchFamily="34" charset="0"/>
              </a:rPr>
              <a:t>Определены эффективные способы ускорения вычислений: Joblib даёт прирост в 4 раза, Sklearn (n_jobs = -1) — до 12 раз при обучении моделей.</a:t>
            </a:r>
          </a:p>
          <a:p>
            <a:pPr indent="457200" algn="just">
              <a:spcAft>
                <a:spcPts val="1000"/>
              </a:spcAft>
            </a:pPr>
            <a:r>
              <a:rPr lang="ru-RU" sz="1600" b="1" dirty="0">
                <a:latin typeface="Montserrat" panose="00000500000000000000" pitchFamily="2" charset="-52"/>
                <a:ea typeface="Calibri" panose="020F0502020204030204" pitchFamily="34" charset="0"/>
              </a:rPr>
              <a:t>2</a:t>
            </a:r>
            <a:r>
              <a:rPr lang="en-US" sz="1600" b="1" dirty="0">
                <a:latin typeface="Montserrat" panose="00000500000000000000" pitchFamily="2" charset="-52"/>
                <a:ea typeface="Calibri" panose="020F0502020204030204" pitchFamily="34" charset="0"/>
              </a:rPr>
              <a:t>. </a:t>
            </a:r>
            <a:r>
              <a:rPr lang="ru-RU" sz="1600" b="1" dirty="0">
                <a:latin typeface="Montserrat" panose="00000500000000000000" pitchFamily="2" charset="-52"/>
                <a:ea typeface="Calibri" panose="020F0502020204030204" pitchFamily="34" charset="0"/>
              </a:rPr>
              <a:t>Классификация точек облаков</a:t>
            </a:r>
          </a:p>
          <a:p>
            <a:pPr indent="457200" algn="just">
              <a:spcAft>
                <a:spcPts val="1000"/>
              </a:spcAft>
            </a:pPr>
            <a:r>
              <a:rPr lang="ru-RU" sz="1600" dirty="0">
                <a:latin typeface="Montserrat" panose="00000500000000000000" pitchFamily="2" charset="-52"/>
                <a:ea typeface="Calibri" panose="020F0502020204030204" pitchFamily="34" charset="0"/>
              </a:rPr>
              <a:t>С помощью вычислительных экспериментов выявлены наилучшие значения </a:t>
            </a:r>
            <a:r>
              <a:rPr lang="ru-RU" sz="1600" dirty="0" err="1">
                <a:latin typeface="Montserrat" panose="00000500000000000000" pitchFamily="2" charset="-52"/>
                <a:ea typeface="Calibri" panose="020F0502020204030204" pitchFamily="34" charset="0"/>
              </a:rPr>
              <a:t>гипер</a:t>
            </a:r>
            <a:r>
              <a:rPr lang="ru-RU" sz="1600" dirty="0">
                <a:latin typeface="Montserrat" panose="00000500000000000000" pitchFamily="2" charset="-52"/>
                <a:ea typeface="Calibri" panose="020F0502020204030204" pitchFamily="34" charset="0"/>
              </a:rPr>
              <a:t>-параметров для всех исследуемых моделей.</a:t>
            </a:r>
          </a:p>
          <a:p>
            <a:pPr indent="457200" algn="just">
              <a:spcAft>
                <a:spcPts val="1000"/>
              </a:spcAft>
            </a:pPr>
            <a:r>
              <a:rPr lang="ru-RU" sz="1600" b="1" dirty="0">
                <a:latin typeface="Montserrat" panose="00000500000000000000" pitchFamily="2" charset="-52"/>
                <a:ea typeface="Calibri" panose="020F0502020204030204" pitchFamily="34" charset="0"/>
              </a:rPr>
              <a:t>3</a:t>
            </a:r>
            <a:r>
              <a:rPr lang="en-US" sz="1600" b="1" dirty="0">
                <a:latin typeface="Montserrat" panose="00000500000000000000" pitchFamily="2" charset="-52"/>
                <a:ea typeface="Calibri" panose="020F0502020204030204" pitchFamily="34" charset="0"/>
              </a:rPr>
              <a:t>. </a:t>
            </a:r>
            <a:r>
              <a:rPr lang="ru-RU" sz="1600" b="1" dirty="0">
                <a:latin typeface="Montserrat" panose="00000500000000000000" pitchFamily="2" charset="-52"/>
                <a:ea typeface="Calibri" panose="020F0502020204030204" pitchFamily="34" charset="0"/>
              </a:rPr>
              <a:t>Сравнение параметров и оптимизация гиперпараметров</a:t>
            </a:r>
          </a:p>
          <a:p>
            <a:pPr indent="457200" algn="just">
              <a:spcAft>
                <a:spcPts val="1000"/>
              </a:spcAft>
            </a:pPr>
            <a:r>
              <a:rPr lang="ru-RU" sz="1600" dirty="0">
                <a:latin typeface="Montserrat" panose="00000500000000000000" pitchFamily="2" charset="-52"/>
                <a:ea typeface="Calibri" panose="020F0502020204030204" pitchFamily="34" charset="0"/>
              </a:rPr>
              <a:t>Проведено сравнение моделей с оптимальным значением параметров. Показано, что лучшая модель – Решающее дерево.</a:t>
            </a:r>
          </a:p>
        </p:txBody>
      </p:sp>
    </p:spTree>
    <p:extLst>
      <p:ext uri="{BB962C8B-B14F-4D97-AF65-F5344CB8AC3E}">
        <p14:creationId xmlns:p14="http://schemas.microsoft.com/office/powerpoint/2010/main" val="1521592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84C69-6DF3-852C-42ED-01867977F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11712" y="1799296"/>
            <a:ext cx="13567424" cy="2515614"/>
          </a:xfrm>
        </p:spPr>
        <p:txBody>
          <a:bodyPr/>
          <a:lstStyle/>
          <a:p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903860259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2123</TotalTime>
  <Words>792</Words>
  <Application>Microsoft Office PowerPoint</Application>
  <PresentationFormat>Экран (16:9)</PresentationFormat>
  <Paragraphs>183</Paragraphs>
  <Slides>15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Times New Roman</vt:lpstr>
      <vt:lpstr>Consolas</vt:lpstr>
      <vt:lpstr>Montserrat</vt:lpstr>
      <vt:lpstr>Vidaloka</vt:lpstr>
      <vt:lpstr>Symbol</vt:lpstr>
      <vt:lpstr>Cambria Math</vt:lpstr>
      <vt:lpstr>Crimson Text</vt:lpstr>
      <vt:lpstr>Arial</vt:lpstr>
      <vt:lpstr>Minimalist Business Slides XL by Slidesgo</vt:lpstr>
      <vt:lpstr>Параллельная сегментация точечных изображений деревьев: сравнительный анализ и оптимизация методов машинного обучения для эффективного разделения кроны и листвы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Марат Майстренко</dc:creator>
  <cp:lastModifiedBy>Марат Майстренко</cp:lastModifiedBy>
  <cp:revision>245</cp:revision>
  <dcterms:modified xsi:type="dcterms:W3CDTF">2025-05-19T13:01:13Z</dcterms:modified>
</cp:coreProperties>
</file>